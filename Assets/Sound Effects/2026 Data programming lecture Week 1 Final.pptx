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302" r:id="rId9"/>
    <p:sldId id="266" r:id="rId10"/>
    <p:sldId id="267" r:id="rId11"/>
    <p:sldId id="268" r:id="rId12"/>
    <p:sldId id="299" r:id="rId13"/>
    <p:sldId id="269" r:id="rId14"/>
    <p:sldId id="297" r:id="rId15"/>
    <p:sldId id="301" r:id="rId16"/>
    <p:sldId id="272" r:id="rId17"/>
    <p:sldId id="273" r:id="rId18"/>
    <p:sldId id="270" r:id="rId19"/>
    <p:sldId id="295" r:id="rId20"/>
    <p:sldId id="274" r:id="rId21"/>
    <p:sldId id="275" r:id="rId22"/>
    <p:sldId id="277" r:id="rId23"/>
    <p:sldId id="304" r:id="rId24"/>
    <p:sldId id="276" r:id="rId25"/>
    <p:sldId id="278" r:id="rId26"/>
    <p:sldId id="279" r:id="rId27"/>
    <p:sldId id="280" r:id="rId28"/>
    <p:sldId id="281" r:id="rId29"/>
    <p:sldId id="283" r:id="rId30"/>
    <p:sldId id="282" r:id="rId31"/>
    <p:sldId id="284" r:id="rId32"/>
    <p:sldId id="293" r:id="rId33"/>
    <p:sldId id="292" r:id="rId34"/>
    <p:sldId id="285" r:id="rId35"/>
    <p:sldId id="286" r:id="rId36"/>
    <p:sldId id="288" r:id="rId37"/>
    <p:sldId id="290" r:id="rId38"/>
  </p:sldIdLst>
  <p:sldSz cx="18288000" cy="10287000"/>
  <p:notesSz cx="6858000" cy="9144000"/>
  <p:embeddedFontLst>
    <p:embeddedFont>
      <p:font typeface="Arimo" panose="020F0502020204030203" pitchFamily="34" charset="0"/>
      <p:regular r:id="rId40"/>
      <p:italic r:id="rId41"/>
    </p:embeddedFont>
    <p:embeddedFont>
      <p:font typeface="Canva Sans Italics" panose="020F0502020204030203" pitchFamily="34" charset="0"/>
      <p:regular r:id="rId40"/>
      <p:italic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Lato Bold" panose="020F0502020204030203"/>
      <p:regular r:id="rId42"/>
      <p:bold r:id="rId42"/>
    </p:embeddedFont>
    <p:embeddedFont>
      <p:font typeface="Lato Bold Italics" panose="020F0502020204030203" pitchFamily="34" charset="0"/>
      <p:regular r:id="rId42"/>
      <p:bold r:id="rId42"/>
      <p:italic r:id="rId42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EE8"/>
    <a:srgbClr val="F49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18" autoAdjust="0"/>
    <p:restoredTop sz="57260" autoAdjust="0"/>
  </p:normalViewPr>
  <p:slideViewPr>
    <p:cSldViewPr>
      <p:cViewPr varScale="1">
        <p:scale>
          <a:sx n="46" d="100"/>
          <a:sy n="46" d="100"/>
        </p:scale>
        <p:origin x="24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4308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2-3 min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 min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7270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3792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6875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150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203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6744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1FD2-009F-7471-7A02-055D7743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06C2A-8777-160C-16EA-ED905666B9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AE7B4-DA90-CC81-7850-8018BADED3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B535B21-C705-7AF7-3FDF-1FA52630C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E64A3A-77F5-D87F-2A2F-0D717B328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2-3 min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9D3CD-34BF-482D-C972-9B9A2CC5FA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AF470-468C-0035-B679-E72CD163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28115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342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738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802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919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12" Type="http://schemas.openxmlformats.org/officeDocument/2006/relationships/hyperlink" Target="https://www.google.com/url?sa=i&amp;url=https%3A%2F%2Fwordcloud.app%2Fauthors%2Fwilliam-shakespeare&amp;psig=AOvVaw0nyO3enEnjBUSsTKQWFS_o&amp;ust=1759321532304000&amp;source=images&amp;cd=vfe&amp;opi=89978449&amp;ved=0CBYQjRxqFwoTCLiPn829gJADFQAAAAAdAAAAABAJ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astral-sh/uv" TargetMode="External"/><Relationship Id="rId5" Type="http://schemas.openxmlformats.org/officeDocument/2006/relationships/hyperlink" Target="https://learn.gold.ac.uk/mod/lti/view.php?id=1740418" TargetMode="External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hyperlink" Target="https://alpopkes.com/posts/python/packaging_tools/" TargetMode="Externa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upgrad.com/blog/programming-languages-trends-data-scienc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wscubetech.com/resources/python/programs/pattern" TargetMode="External"/><Relationship Id="rId4" Type="http://schemas.openxmlformats.org/officeDocument/2006/relationships/hyperlink" Target="https://pynative.com/print-pattern-python-examples/#h-pyramid-pattern-of-stars-in-python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gold.ac.uk/mod/lti/view.php?id=1740418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7494463"/>
            <a:ext cx="18288000" cy="2792537"/>
            <a:chOff x="0" y="0"/>
            <a:chExt cx="24384000" cy="37233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3723386"/>
            </a:xfrm>
            <a:custGeom>
              <a:avLst/>
              <a:gdLst/>
              <a:ahLst/>
              <a:cxnLst/>
              <a:rect l="l" t="t" r="r" b="b"/>
              <a:pathLst>
                <a:path w="24384000" h="3723386">
                  <a:moveTo>
                    <a:pt x="0" y="0"/>
                  </a:moveTo>
                  <a:lnTo>
                    <a:pt x="24384000" y="0"/>
                  </a:lnTo>
                  <a:lnTo>
                    <a:pt x="24384000" y="3723386"/>
                  </a:lnTo>
                  <a:lnTo>
                    <a:pt x="0" y="3723386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055039"/>
            <a:ext cx="14413764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Introduction to the course &amp;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56116"/>
            <a:ext cx="8093157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Data programming for 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65590" y="7849729"/>
            <a:ext cx="4356820" cy="45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Oct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5" y="7849729"/>
            <a:ext cx="5257790" cy="151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Dr. Prashanth Thattai Ravikumar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Lecturer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Goldsmiths, UoL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65590" y="8380826"/>
            <a:ext cx="4356820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Week I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4355828" y="8720226"/>
            <a:ext cx="3114498" cy="76200"/>
            <a:chOff x="0" y="0"/>
            <a:chExt cx="4152664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52646" cy="101600"/>
            </a:xfrm>
            <a:custGeom>
              <a:avLst/>
              <a:gdLst/>
              <a:ahLst/>
              <a:cxnLst/>
              <a:rect l="l" t="t" r="r" b="b"/>
              <a:pathLst>
                <a:path w="4152646" h="101600">
                  <a:moveTo>
                    <a:pt x="50800" y="0"/>
                  </a:moveTo>
                  <a:lnTo>
                    <a:pt x="4101846" y="0"/>
                  </a:lnTo>
                  <a:cubicBezTo>
                    <a:pt x="4129913" y="0"/>
                    <a:pt x="4152646" y="22733"/>
                    <a:pt x="4152646" y="50800"/>
                  </a:cubicBezTo>
                  <a:cubicBezTo>
                    <a:pt x="4152646" y="78867"/>
                    <a:pt x="4129913" y="101600"/>
                    <a:pt x="4101846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F9F5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627435" y="9505077"/>
            <a:ext cx="2237298" cy="521934"/>
            <a:chOff x="0" y="0"/>
            <a:chExt cx="2983064" cy="695912"/>
          </a:xfrm>
        </p:grpSpPr>
        <p:sp>
          <p:nvSpPr>
            <p:cNvPr id="13" name="Freeform 13" descr="Picture 5"/>
            <p:cNvSpPr/>
            <p:nvPr/>
          </p:nvSpPr>
          <p:spPr>
            <a:xfrm>
              <a:off x="0" y="0"/>
              <a:ext cx="2983103" cy="695960"/>
            </a:xfrm>
            <a:custGeom>
              <a:avLst/>
              <a:gdLst/>
              <a:ahLst/>
              <a:cxnLst/>
              <a:rect l="l" t="t" r="r" b="b"/>
              <a:pathLst>
                <a:path w="2983103" h="695960">
                  <a:moveTo>
                    <a:pt x="0" y="0"/>
                  </a:moveTo>
                  <a:lnTo>
                    <a:pt x="2983103" y="0"/>
                  </a:lnTo>
                  <a:lnTo>
                    <a:pt x="2983103" y="695960"/>
                  </a:lnTo>
                  <a:lnTo>
                    <a:pt x="0" y="69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63" r="-861" b="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5298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2854" y="2540828"/>
            <a:ext cx="6864847" cy="500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3500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Intro to course</a:t>
            </a:r>
          </a:p>
          <a:p>
            <a:pPr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>
              <a:lnSpc>
                <a:spcPts val="3919"/>
              </a:lnSpc>
            </a:pPr>
            <a:r>
              <a:rPr lang="en-US" sz="3500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Python - Installation and use</a:t>
            </a:r>
          </a:p>
          <a:p>
            <a:pPr algn="l"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3500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Variables</a:t>
            </a:r>
          </a:p>
          <a:p>
            <a:pPr algn="l"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endParaRPr lang="en-US" sz="3500" b="1" dirty="0">
              <a:solidFill>
                <a:srgbClr val="2D2D2D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3500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Concatenation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3703941" y="2839327"/>
            <a:ext cx="3086100" cy="3266926"/>
          </a:xfrm>
          <a:custGeom>
            <a:avLst/>
            <a:gdLst/>
            <a:ahLst/>
            <a:cxnLst/>
            <a:rect l="l" t="t" r="r" b="b"/>
            <a:pathLst>
              <a:path w="3086100" h="3266926">
                <a:moveTo>
                  <a:pt x="0" y="0"/>
                </a:moveTo>
                <a:lnTo>
                  <a:pt x="3086100" y="0"/>
                </a:lnTo>
                <a:lnTo>
                  <a:pt x="3086100" y="3266926"/>
                </a:lnTo>
                <a:lnTo>
                  <a:pt x="0" y="326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475298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Course contextualization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90224" y="2154117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Year 1 : Foundations of Computing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90224" y="6158855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Year 3: Your own final year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32929" y="2689909"/>
            <a:ext cx="6864847" cy="105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Year 2: Bridges abstract roles with more more concrete programming principles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8738" y="3876133"/>
            <a:ext cx="6864847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Software AI Engineer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Exploration and Visualization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Data/Feature engineer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scientist / Analyst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Software data programmer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49671" y="7478385"/>
            <a:ext cx="9838134" cy="59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298" b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You will learn to write programs that work with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78899" y="3309092"/>
            <a:ext cx="14325377" cy="3202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model is generally well-behaved, it occasionally generates undesirable content </a:t>
            </a:r>
          </a:p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— such as informal language, placeholder text, excessive emojis, or repetitive filler —</a:t>
            </a:r>
          </a:p>
          <a:p>
            <a:pPr algn="ctr">
              <a:lnSpc>
                <a:spcPts val="3639"/>
              </a:lnSpc>
            </a:pPr>
            <a:endParaRPr lang="en-US" sz="2599" i="1" dirty="0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"OMG 😂😂😂 that’s </a:t>
            </a:r>
            <a:r>
              <a:rPr lang="en-US" sz="25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soooo</a:t>
            </a: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funny!!!"</a:t>
            </a:r>
          </a:p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"Lorem ipsum dolor sit </a:t>
            </a:r>
            <a:r>
              <a:rPr lang="en-US" sz="25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amet</a:t>
            </a: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, blah blah blah."</a:t>
            </a:r>
          </a:p>
          <a:p>
            <a:pPr algn="ctr">
              <a:lnSpc>
                <a:spcPts val="3639"/>
              </a:lnSpc>
            </a:pPr>
            <a:endParaRPr lang="en-US" sz="2599" i="1" dirty="0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ctr">
              <a:lnSpc>
                <a:spcPts val="3639"/>
              </a:lnSpc>
            </a:pPr>
            <a:r>
              <a:rPr lang="en-US" sz="2599" b="1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model is in production. You cannot develop a new model.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75298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Use-case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5183" y="2067354"/>
            <a:ext cx="13996610" cy="462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You are an ML Engineer maintaining a customer-facing chatbot powered by an LLM.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45695" y="7252326"/>
            <a:ext cx="13996610" cy="47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Where in the system could you intervene?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31252" y="3687802"/>
            <a:ext cx="12779098" cy="3202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Your organization previously published a report, but several major developments in the  AI space have happened since </a:t>
            </a:r>
          </a:p>
          <a:p>
            <a:pPr algn="ctr">
              <a:lnSpc>
                <a:spcPts val="3639"/>
              </a:lnSpc>
            </a:pPr>
            <a:r>
              <a:rPr lang="en-US" sz="25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— new model releases, regulatory debates, and public controversies.</a:t>
            </a:r>
          </a:p>
          <a:p>
            <a:pPr algn="ctr">
              <a:lnSpc>
                <a:spcPts val="3639"/>
              </a:lnSpc>
            </a:pPr>
            <a:endParaRPr lang="en-US" sz="2599" b="1" i="1" dirty="0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ctr">
              <a:lnSpc>
                <a:spcPts val="3639"/>
              </a:lnSpc>
            </a:pPr>
            <a:r>
              <a:rPr lang="en-US" sz="2599" b="1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It cannot be static report. Stakeholders might see this at any point </a:t>
            </a:r>
          </a:p>
          <a:p>
            <a:pPr algn="ctr">
              <a:lnSpc>
                <a:spcPts val="3639"/>
              </a:lnSpc>
            </a:pPr>
            <a:r>
              <a:rPr lang="en-US" sz="2599" b="1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And it needs to updated whenever they see it.</a:t>
            </a:r>
          </a:p>
          <a:p>
            <a:pPr algn="ctr">
              <a:lnSpc>
                <a:spcPts val="3639"/>
              </a:lnSpc>
            </a:pPr>
            <a:endParaRPr lang="en-US" sz="2599" b="1" i="1" dirty="0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475297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Use-case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63403" y="2197202"/>
            <a:ext cx="13314797" cy="975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You are a Data Analyst researching public sentiment around generative AI tools (like ChatGPT, Midjourney, or Claude).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45694" y="7405038"/>
            <a:ext cx="15075506" cy="473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How can you automate the workflow to ensure stakeholders always have current insights?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5352982" y="4725478"/>
            <a:ext cx="5847415" cy="66675"/>
            <a:chOff x="0" y="0"/>
            <a:chExt cx="7796553" cy="88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34300" cy="88900"/>
            </a:xfrm>
            <a:custGeom>
              <a:avLst/>
              <a:gdLst/>
              <a:ahLst/>
              <a:cxnLst/>
              <a:rect l="l" t="t" r="r" b="b"/>
              <a:pathLst>
                <a:path w="7734300" h="88900">
                  <a:moveTo>
                    <a:pt x="400050" y="0"/>
                  </a:moveTo>
                  <a:lnTo>
                    <a:pt x="577850" y="0"/>
                  </a:lnTo>
                  <a:cubicBezTo>
                    <a:pt x="602361" y="0"/>
                    <a:pt x="622300" y="19939"/>
                    <a:pt x="622300" y="44450"/>
                  </a:cubicBezTo>
                  <a:cubicBezTo>
                    <a:pt x="622300" y="68961"/>
                    <a:pt x="602361" y="88900"/>
                    <a:pt x="577850" y="88900"/>
                  </a:cubicBezTo>
                  <a:lnTo>
                    <a:pt x="400050" y="88900"/>
                  </a:lnTo>
                  <a:cubicBezTo>
                    <a:pt x="375539" y="88900"/>
                    <a:pt x="355600" y="68961"/>
                    <a:pt x="355600" y="44450"/>
                  </a:cubicBezTo>
                  <a:cubicBezTo>
                    <a:pt x="355600" y="19939"/>
                    <a:pt x="375539" y="0"/>
                    <a:pt x="400050" y="0"/>
                  </a:cubicBezTo>
                  <a:close/>
                  <a:moveTo>
                    <a:pt x="755650" y="0"/>
                  </a:moveTo>
                  <a:lnTo>
                    <a:pt x="933450" y="0"/>
                  </a:lnTo>
                  <a:cubicBezTo>
                    <a:pt x="957961" y="0"/>
                    <a:pt x="977900" y="19939"/>
                    <a:pt x="977900" y="44450"/>
                  </a:cubicBezTo>
                  <a:cubicBezTo>
                    <a:pt x="977900" y="68961"/>
                    <a:pt x="957961" y="88900"/>
                    <a:pt x="933450" y="88900"/>
                  </a:cubicBezTo>
                  <a:lnTo>
                    <a:pt x="755650" y="88900"/>
                  </a:lnTo>
                  <a:cubicBezTo>
                    <a:pt x="731139" y="88900"/>
                    <a:pt x="711200" y="68961"/>
                    <a:pt x="711200" y="44450"/>
                  </a:cubicBezTo>
                  <a:cubicBezTo>
                    <a:pt x="711200" y="19939"/>
                    <a:pt x="731139" y="0"/>
                    <a:pt x="755650" y="0"/>
                  </a:cubicBezTo>
                  <a:close/>
                  <a:moveTo>
                    <a:pt x="1111250" y="0"/>
                  </a:moveTo>
                  <a:lnTo>
                    <a:pt x="1289050" y="0"/>
                  </a:lnTo>
                  <a:cubicBezTo>
                    <a:pt x="1313561" y="0"/>
                    <a:pt x="1333500" y="19939"/>
                    <a:pt x="1333500" y="44450"/>
                  </a:cubicBezTo>
                  <a:cubicBezTo>
                    <a:pt x="1333500" y="68961"/>
                    <a:pt x="1313561" y="88900"/>
                    <a:pt x="1289050" y="88900"/>
                  </a:cubicBezTo>
                  <a:lnTo>
                    <a:pt x="1111250" y="88900"/>
                  </a:lnTo>
                  <a:cubicBezTo>
                    <a:pt x="1086739" y="88900"/>
                    <a:pt x="1066800" y="68961"/>
                    <a:pt x="1066800" y="44450"/>
                  </a:cubicBezTo>
                  <a:cubicBezTo>
                    <a:pt x="1066800" y="19939"/>
                    <a:pt x="1086739" y="0"/>
                    <a:pt x="1111250" y="0"/>
                  </a:cubicBezTo>
                  <a:close/>
                  <a:moveTo>
                    <a:pt x="1466850" y="0"/>
                  </a:moveTo>
                  <a:lnTo>
                    <a:pt x="1644650" y="0"/>
                  </a:lnTo>
                  <a:cubicBezTo>
                    <a:pt x="1669161" y="0"/>
                    <a:pt x="1689100" y="19939"/>
                    <a:pt x="1689100" y="44450"/>
                  </a:cubicBezTo>
                  <a:cubicBezTo>
                    <a:pt x="1689100" y="68961"/>
                    <a:pt x="1669161" y="88900"/>
                    <a:pt x="1644650" y="88900"/>
                  </a:cubicBezTo>
                  <a:lnTo>
                    <a:pt x="1466850" y="88900"/>
                  </a:lnTo>
                  <a:cubicBezTo>
                    <a:pt x="1442339" y="88900"/>
                    <a:pt x="1422400" y="68961"/>
                    <a:pt x="1422400" y="44450"/>
                  </a:cubicBezTo>
                  <a:cubicBezTo>
                    <a:pt x="1422400" y="19939"/>
                    <a:pt x="1442339" y="0"/>
                    <a:pt x="1466850" y="0"/>
                  </a:cubicBezTo>
                  <a:close/>
                  <a:moveTo>
                    <a:pt x="1822450" y="0"/>
                  </a:moveTo>
                  <a:lnTo>
                    <a:pt x="2000250" y="0"/>
                  </a:lnTo>
                  <a:cubicBezTo>
                    <a:pt x="2024761" y="0"/>
                    <a:pt x="2044700" y="19939"/>
                    <a:pt x="2044700" y="44450"/>
                  </a:cubicBezTo>
                  <a:cubicBezTo>
                    <a:pt x="2044700" y="68961"/>
                    <a:pt x="2024761" y="88900"/>
                    <a:pt x="2000250" y="88900"/>
                  </a:cubicBezTo>
                  <a:lnTo>
                    <a:pt x="1822450" y="88900"/>
                  </a:lnTo>
                  <a:cubicBezTo>
                    <a:pt x="1797939" y="88900"/>
                    <a:pt x="1778000" y="68961"/>
                    <a:pt x="1778000" y="44450"/>
                  </a:cubicBezTo>
                  <a:cubicBezTo>
                    <a:pt x="1778000" y="19939"/>
                    <a:pt x="1797939" y="0"/>
                    <a:pt x="1822450" y="0"/>
                  </a:cubicBezTo>
                  <a:close/>
                  <a:moveTo>
                    <a:pt x="2178050" y="0"/>
                  </a:moveTo>
                  <a:lnTo>
                    <a:pt x="2355850" y="0"/>
                  </a:lnTo>
                  <a:cubicBezTo>
                    <a:pt x="2380361" y="0"/>
                    <a:pt x="2400300" y="19939"/>
                    <a:pt x="2400300" y="44450"/>
                  </a:cubicBezTo>
                  <a:cubicBezTo>
                    <a:pt x="2400300" y="68961"/>
                    <a:pt x="2380361" y="88900"/>
                    <a:pt x="2355850" y="88900"/>
                  </a:cubicBezTo>
                  <a:lnTo>
                    <a:pt x="2178050" y="88900"/>
                  </a:lnTo>
                  <a:cubicBezTo>
                    <a:pt x="2153539" y="88900"/>
                    <a:pt x="2133600" y="68961"/>
                    <a:pt x="2133600" y="44450"/>
                  </a:cubicBezTo>
                  <a:cubicBezTo>
                    <a:pt x="2133600" y="19939"/>
                    <a:pt x="2153539" y="0"/>
                    <a:pt x="2178050" y="0"/>
                  </a:cubicBezTo>
                  <a:close/>
                  <a:moveTo>
                    <a:pt x="2533650" y="0"/>
                  </a:moveTo>
                  <a:lnTo>
                    <a:pt x="2711450" y="0"/>
                  </a:lnTo>
                  <a:cubicBezTo>
                    <a:pt x="2735961" y="0"/>
                    <a:pt x="2755900" y="19939"/>
                    <a:pt x="2755900" y="44450"/>
                  </a:cubicBezTo>
                  <a:cubicBezTo>
                    <a:pt x="2755900" y="68961"/>
                    <a:pt x="2735961" y="88900"/>
                    <a:pt x="2711450" y="88900"/>
                  </a:cubicBezTo>
                  <a:lnTo>
                    <a:pt x="2533650" y="88900"/>
                  </a:lnTo>
                  <a:cubicBezTo>
                    <a:pt x="2509139" y="88900"/>
                    <a:pt x="2489200" y="68961"/>
                    <a:pt x="2489200" y="44450"/>
                  </a:cubicBezTo>
                  <a:cubicBezTo>
                    <a:pt x="2489200" y="19939"/>
                    <a:pt x="2509139" y="0"/>
                    <a:pt x="2533650" y="0"/>
                  </a:cubicBezTo>
                  <a:close/>
                  <a:moveTo>
                    <a:pt x="2889250" y="0"/>
                  </a:moveTo>
                  <a:lnTo>
                    <a:pt x="3067050" y="0"/>
                  </a:lnTo>
                  <a:cubicBezTo>
                    <a:pt x="3091561" y="0"/>
                    <a:pt x="3111500" y="19939"/>
                    <a:pt x="3111500" y="44450"/>
                  </a:cubicBezTo>
                  <a:cubicBezTo>
                    <a:pt x="3111500" y="68961"/>
                    <a:pt x="3091561" y="88900"/>
                    <a:pt x="3067050" y="88900"/>
                  </a:cubicBezTo>
                  <a:lnTo>
                    <a:pt x="2889250" y="88900"/>
                  </a:lnTo>
                  <a:cubicBezTo>
                    <a:pt x="2864739" y="88900"/>
                    <a:pt x="2844800" y="68961"/>
                    <a:pt x="2844800" y="44450"/>
                  </a:cubicBezTo>
                  <a:cubicBezTo>
                    <a:pt x="2844800" y="19939"/>
                    <a:pt x="2864739" y="0"/>
                    <a:pt x="2889250" y="0"/>
                  </a:cubicBezTo>
                  <a:close/>
                  <a:moveTo>
                    <a:pt x="3244850" y="0"/>
                  </a:moveTo>
                  <a:lnTo>
                    <a:pt x="3422650" y="0"/>
                  </a:lnTo>
                  <a:cubicBezTo>
                    <a:pt x="3447161" y="0"/>
                    <a:pt x="3467100" y="19939"/>
                    <a:pt x="3467100" y="44450"/>
                  </a:cubicBezTo>
                  <a:cubicBezTo>
                    <a:pt x="3467100" y="68961"/>
                    <a:pt x="3447161" y="88900"/>
                    <a:pt x="3422650" y="88900"/>
                  </a:cubicBezTo>
                  <a:lnTo>
                    <a:pt x="3244850" y="88900"/>
                  </a:lnTo>
                  <a:cubicBezTo>
                    <a:pt x="3220339" y="88900"/>
                    <a:pt x="3200400" y="68961"/>
                    <a:pt x="3200400" y="44450"/>
                  </a:cubicBezTo>
                  <a:cubicBezTo>
                    <a:pt x="3200400" y="19939"/>
                    <a:pt x="3220339" y="0"/>
                    <a:pt x="3244850" y="0"/>
                  </a:cubicBezTo>
                  <a:close/>
                  <a:moveTo>
                    <a:pt x="3600450" y="0"/>
                  </a:moveTo>
                  <a:lnTo>
                    <a:pt x="3778250" y="0"/>
                  </a:lnTo>
                  <a:cubicBezTo>
                    <a:pt x="3802761" y="0"/>
                    <a:pt x="3822700" y="19939"/>
                    <a:pt x="3822700" y="44450"/>
                  </a:cubicBezTo>
                  <a:cubicBezTo>
                    <a:pt x="3822700" y="68961"/>
                    <a:pt x="3802761" y="88900"/>
                    <a:pt x="3778250" y="88900"/>
                  </a:cubicBezTo>
                  <a:lnTo>
                    <a:pt x="3600450" y="88900"/>
                  </a:lnTo>
                  <a:cubicBezTo>
                    <a:pt x="3575939" y="88900"/>
                    <a:pt x="3556000" y="68961"/>
                    <a:pt x="3556000" y="44450"/>
                  </a:cubicBezTo>
                  <a:cubicBezTo>
                    <a:pt x="3556000" y="19939"/>
                    <a:pt x="3575939" y="0"/>
                    <a:pt x="3600450" y="0"/>
                  </a:cubicBezTo>
                  <a:close/>
                  <a:moveTo>
                    <a:pt x="3956050" y="0"/>
                  </a:moveTo>
                  <a:lnTo>
                    <a:pt x="4133850" y="0"/>
                  </a:lnTo>
                  <a:cubicBezTo>
                    <a:pt x="4158361" y="0"/>
                    <a:pt x="4178300" y="19939"/>
                    <a:pt x="4178300" y="44450"/>
                  </a:cubicBezTo>
                  <a:cubicBezTo>
                    <a:pt x="4178300" y="68961"/>
                    <a:pt x="4158361" y="88900"/>
                    <a:pt x="4133850" y="88900"/>
                  </a:cubicBezTo>
                  <a:lnTo>
                    <a:pt x="3956050" y="88900"/>
                  </a:lnTo>
                  <a:cubicBezTo>
                    <a:pt x="3931539" y="88900"/>
                    <a:pt x="3911600" y="68961"/>
                    <a:pt x="3911600" y="44450"/>
                  </a:cubicBezTo>
                  <a:cubicBezTo>
                    <a:pt x="3911600" y="19939"/>
                    <a:pt x="3931539" y="0"/>
                    <a:pt x="3956050" y="0"/>
                  </a:cubicBezTo>
                  <a:close/>
                  <a:moveTo>
                    <a:pt x="4311650" y="0"/>
                  </a:moveTo>
                  <a:lnTo>
                    <a:pt x="4489450" y="0"/>
                  </a:lnTo>
                  <a:cubicBezTo>
                    <a:pt x="4513961" y="0"/>
                    <a:pt x="4533900" y="19939"/>
                    <a:pt x="4533900" y="44450"/>
                  </a:cubicBezTo>
                  <a:cubicBezTo>
                    <a:pt x="4533900" y="68961"/>
                    <a:pt x="4513961" y="88900"/>
                    <a:pt x="4489450" y="88900"/>
                  </a:cubicBezTo>
                  <a:lnTo>
                    <a:pt x="4311650" y="88900"/>
                  </a:lnTo>
                  <a:cubicBezTo>
                    <a:pt x="4287139" y="88900"/>
                    <a:pt x="4267200" y="68961"/>
                    <a:pt x="4267200" y="44450"/>
                  </a:cubicBezTo>
                  <a:cubicBezTo>
                    <a:pt x="4267200" y="19939"/>
                    <a:pt x="4287139" y="0"/>
                    <a:pt x="4311650" y="0"/>
                  </a:cubicBezTo>
                  <a:close/>
                  <a:moveTo>
                    <a:pt x="4667250" y="0"/>
                  </a:moveTo>
                  <a:lnTo>
                    <a:pt x="4845050" y="0"/>
                  </a:lnTo>
                  <a:cubicBezTo>
                    <a:pt x="4869561" y="0"/>
                    <a:pt x="4889500" y="19939"/>
                    <a:pt x="4889500" y="44450"/>
                  </a:cubicBezTo>
                  <a:cubicBezTo>
                    <a:pt x="4889500" y="68961"/>
                    <a:pt x="4869561" y="88900"/>
                    <a:pt x="4845050" y="88900"/>
                  </a:cubicBezTo>
                  <a:lnTo>
                    <a:pt x="4667250" y="88900"/>
                  </a:lnTo>
                  <a:cubicBezTo>
                    <a:pt x="4642739" y="88900"/>
                    <a:pt x="4622800" y="68961"/>
                    <a:pt x="4622800" y="44450"/>
                  </a:cubicBezTo>
                  <a:cubicBezTo>
                    <a:pt x="4622800" y="19939"/>
                    <a:pt x="4642739" y="0"/>
                    <a:pt x="4667250" y="0"/>
                  </a:cubicBezTo>
                  <a:close/>
                  <a:moveTo>
                    <a:pt x="5022850" y="0"/>
                  </a:moveTo>
                  <a:lnTo>
                    <a:pt x="5200650" y="0"/>
                  </a:lnTo>
                  <a:cubicBezTo>
                    <a:pt x="5225161" y="0"/>
                    <a:pt x="5245100" y="19939"/>
                    <a:pt x="5245100" y="44450"/>
                  </a:cubicBezTo>
                  <a:cubicBezTo>
                    <a:pt x="5245100" y="68961"/>
                    <a:pt x="5225161" y="88900"/>
                    <a:pt x="5200650" y="88900"/>
                  </a:cubicBezTo>
                  <a:lnTo>
                    <a:pt x="5022850" y="88900"/>
                  </a:lnTo>
                  <a:cubicBezTo>
                    <a:pt x="4998339" y="88900"/>
                    <a:pt x="4978400" y="68961"/>
                    <a:pt x="4978400" y="44450"/>
                  </a:cubicBezTo>
                  <a:cubicBezTo>
                    <a:pt x="4978400" y="19939"/>
                    <a:pt x="4998339" y="0"/>
                    <a:pt x="5022850" y="0"/>
                  </a:cubicBezTo>
                  <a:close/>
                  <a:moveTo>
                    <a:pt x="5378450" y="0"/>
                  </a:moveTo>
                  <a:lnTo>
                    <a:pt x="5556250" y="0"/>
                  </a:lnTo>
                  <a:cubicBezTo>
                    <a:pt x="5580761" y="0"/>
                    <a:pt x="5600700" y="19939"/>
                    <a:pt x="5600700" y="44450"/>
                  </a:cubicBezTo>
                  <a:cubicBezTo>
                    <a:pt x="5600700" y="68961"/>
                    <a:pt x="5580761" y="88900"/>
                    <a:pt x="5556250" y="88900"/>
                  </a:cubicBezTo>
                  <a:lnTo>
                    <a:pt x="5378450" y="88900"/>
                  </a:lnTo>
                  <a:cubicBezTo>
                    <a:pt x="5353939" y="88900"/>
                    <a:pt x="5334000" y="68961"/>
                    <a:pt x="5334000" y="44450"/>
                  </a:cubicBezTo>
                  <a:cubicBezTo>
                    <a:pt x="5334000" y="19939"/>
                    <a:pt x="5353939" y="0"/>
                    <a:pt x="5378450" y="0"/>
                  </a:cubicBezTo>
                  <a:close/>
                  <a:moveTo>
                    <a:pt x="5734050" y="0"/>
                  </a:moveTo>
                  <a:lnTo>
                    <a:pt x="5911850" y="0"/>
                  </a:lnTo>
                  <a:cubicBezTo>
                    <a:pt x="5936361" y="0"/>
                    <a:pt x="5956300" y="19939"/>
                    <a:pt x="5956300" y="44450"/>
                  </a:cubicBezTo>
                  <a:cubicBezTo>
                    <a:pt x="5956300" y="68961"/>
                    <a:pt x="5936361" y="88900"/>
                    <a:pt x="5911850" y="88900"/>
                  </a:cubicBezTo>
                  <a:lnTo>
                    <a:pt x="5734050" y="88900"/>
                  </a:lnTo>
                  <a:cubicBezTo>
                    <a:pt x="5709539" y="88900"/>
                    <a:pt x="5689600" y="68961"/>
                    <a:pt x="5689600" y="44450"/>
                  </a:cubicBezTo>
                  <a:cubicBezTo>
                    <a:pt x="5689600" y="19939"/>
                    <a:pt x="5709539" y="0"/>
                    <a:pt x="5734050" y="0"/>
                  </a:cubicBezTo>
                  <a:close/>
                  <a:moveTo>
                    <a:pt x="6089650" y="0"/>
                  </a:moveTo>
                  <a:lnTo>
                    <a:pt x="6267450" y="0"/>
                  </a:lnTo>
                  <a:cubicBezTo>
                    <a:pt x="6291961" y="0"/>
                    <a:pt x="6311900" y="19939"/>
                    <a:pt x="6311900" y="44450"/>
                  </a:cubicBezTo>
                  <a:cubicBezTo>
                    <a:pt x="6311900" y="68961"/>
                    <a:pt x="6291961" y="88900"/>
                    <a:pt x="6267450" y="88900"/>
                  </a:cubicBezTo>
                  <a:lnTo>
                    <a:pt x="6089650" y="88900"/>
                  </a:lnTo>
                  <a:cubicBezTo>
                    <a:pt x="6065139" y="88900"/>
                    <a:pt x="6045200" y="68961"/>
                    <a:pt x="6045200" y="44450"/>
                  </a:cubicBezTo>
                  <a:cubicBezTo>
                    <a:pt x="6045200" y="19939"/>
                    <a:pt x="6065139" y="0"/>
                    <a:pt x="6089650" y="0"/>
                  </a:cubicBezTo>
                  <a:close/>
                  <a:moveTo>
                    <a:pt x="6445250" y="0"/>
                  </a:moveTo>
                  <a:lnTo>
                    <a:pt x="6623050" y="0"/>
                  </a:lnTo>
                  <a:cubicBezTo>
                    <a:pt x="6647561" y="0"/>
                    <a:pt x="6667500" y="19939"/>
                    <a:pt x="6667500" y="44450"/>
                  </a:cubicBezTo>
                  <a:cubicBezTo>
                    <a:pt x="6667500" y="68961"/>
                    <a:pt x="6647561" y="88900"/>
                    <a:pt x="6623050" y="88900"/>
                  </a:cubicBezTo>
                  <a:lnTo>
                    <a:pt x="6445250" y="88900"/>
                  </a:lnTo>
                  <a:cubicBezTo>
                    <a:pt x="6420739" y="88900"/>
                    <a:pt x="6400800" y="68961"/>
                    <a:pt x="6400800" y="44450"/>
                  </a:cubicBezTo>
                  <a:cubicBezTo>
                    <a:pt x="6400800" y="19939"/>
                    <a:pt x="6420739" y="0"/>
                    <a:pt x="6445250" y="0"/>
                  </a:cubicBezTo>
                  <a:close/>
                  <a:moveTo>
                    <a:pt x="6800850" y="0"/>
                  </a:moveTo>
                  <a:lnTo>
                    <a:pt x="6978650" y="0"/>
                  </a:lnTo>
                  <a:cubicBezTo>
                    <a:pt x="7003161" y="0"/>
                    <a:pt x="7023100" y="19939"/>
                    <a:pt x="7023100" y="44450"/>
                  </a:cubicBezTo>
                  <a:cubicBezTo>
                    <a:pt x="7023100" y="68961"/>
                    <a:pt x="7003161" y="88900"/>
                    <a:pt x="6978650" y="88900"/>
                  </a:cubicBezTo>
                  <a:lnTo>
                    <a:pt x="6800850" y="88900"/>
                  </a:lnTo>
                  <a:cubicBezTo>
                    <a:pt x="6776339" y="88900"/>
                    <a:pt x="6756400" y="68961"/>
                    <a:pt x="6756400" y="44450"/>
                  </a:cubicBezTo>
                  <a:cubicBezTo>
                    <a:pt x="6756400" y="19939"/>
                    <a:pt x="6776339" y="0"/>
                    <a:pt x="6800850" y="0"/>
                  </a:cubicBezTo>
                  <a:close/>
                  <a:moveTo>
                    <a:pt x="7156450" y="0"/>
                  </a:moveTo>
                  <a:lnTo>
                    <a:pt x="7334250" y="0"/>
                  </a:lnTo>
                  <a:cubicBezTo>
                    <a:pt x="7358761" y="0"/>
                    <a:pt x="7378700" y="19939"/>
                    <a:pt x="7378700" y="44450"/>
                  </a:cubicBezTo>
                  <a:cubicBezTo>
                    <a:pt x="7378700" y="68961"/>
                    <a:pt x="7358761" y="88900"/>
                    <a:pt x="7334250" y="88900"/>
                  </a:cubicBezTo>
                  <a:lnTo>
                    <a:pt x="7156450" y="88900"/>
                  </a:lnTo>
                  <a:cubicBezTo>
                    <a:pt x="7131939" y="88900"/>
                    <a:pt x="7112000" y="68961"/>
                    <a:pt x="7112000" y="44450"/>
                  </a:cubicBezTo>
                  <a:cubicBezTo>
                    <a:pt x="7112000" y="19939"/>
                    <a:pt x="7131939" y="0"/>
                    <a:pt x="7156450" y="0"/>
                  </a:cubicBezTo>
                  <a:close/>
                  <a:moveTo>
                    <a:pt x="7512050" y="0"/>
                  </a:moveTo>
                  <a:lnTo>
                    <a:pt x="7689850" y="0"/>
                  </a:lnTo>
                  <a:cubicBezTo>
                    <a:pt x="7714361" y="0"/>
                    <a:pt x="7734300" y="19939"/>
                    <a:pt x="7734300" y="44450"/>
                  </a:cubicBezTo>
                  <a:cubicBezTo>
                    <a:pt x="7734300" y="68961"/>
                    <a:pt x="7714361" y="88900"/>
                    <a:pt x="7689850" y="88900"/>
                  </a:cubicBezTo>
                  <a:lnTo>
                    <a:pt x="7512050" y="88900"/>
                  </a:lnTo>
                  <a:cubicBezTo>
                    <a:pt x="7487539" y="88900"/>
                    <a:pt x="7467600" y="68961"/>
                    <a:pt x="7467600" y="44450"/>
                  </a:cubicBezTo>
                  <a:cubicBezTo>
                    <a:pt x="7467600" y="19939"/>
                    <a:pt x="7487539" y="0"/>
                    <a:pt x="7512050" y="0"/>
                  </a:cubicBezTo>
                  <a:close/>
                  <a:moveTo>
                    <a:pt x="44450" y="0"/>
                  </a:moveTo>
                  <a:lnTo>
                    <a:pt x="222250" y="0"/>
                  </a:lnTo>
                  <a:cubicBezTo>
                    <a:pt x="246761" y="0"/>
                    <a:pt x="266700" y="19939"/>
                    <a:pt x="266700" y="44450"/>
                  </a:cubicBezTo>
                  <a:cubicBezTo>
                    <a:pt x="266700" y="68961"/>
                    <a:pt x="246761" y="88900"/>
                    <a:pt x="222250" y="88900"/>
                  </a:cubicBezTo>
                  <a:lnTo>
                    <a:pt x="44450" y="88900"/>
                  </a:lnTo>
                  <a:cubicBezTo>
                    <a:pt x="19939" y="88900"/>
                    <a:pt x="0" y="68961"/>
                    <a:pt x="0" y="44450"/>
                  </a:cubicBezTo>
                  <a:cubicBezTo>
                    <a:pt x="0" y="19939"/>
                    <a:pt x="19939" y="0"/>
                    <a:pt x="44450" y="0"/>
                  </a:cubicBezTo>
                  <a:close/>
                </a:path>
              </a:pathLst>
            </a:custGeom>
            <a:solidFill>
              <a:srgbClr val="D9777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475298"/>
            <a:ext cx="8923162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Module focus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71600" y="5848270"/>
            <a:ext cx="3086100" cy="1100629"/>
            <a:chOff x="0" y="0"/>
            <a:chExt cx="4114800" cy="14675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4800" cy="1467485"/>
            </a:xfrm>
            <a:custGeom>
              <a:avLst/>
              <a:gdLst/>
              <a:ahLst/>
              <a:cxnLst/>
              <a:rect l="l" t="t" r="r" b="b"/>
              <a:pathLst>
                <a:path w="4114800" h="1467485">
                  <a:moveTo>
                    <a:pt x="0" y="0"/>
                  </a:moveTo>
                  <a:lnTo>
                    <a:pt x="4114800" y="0"/>
                  </a:lnTo>
                  <a:lnTo>
                    <a:pt x="4114800" y="1467485"/>
                  </a:lnTo>
                  <a:lnTo>
                    <a:pt x="0" y="1467485"/>
                  </a:lnTo>
                  <a:close/>
                </a:path>
              </a:pathLst>
            </a:custGeom>
            <a:solidFill>
              <a:srgbClr val="D9777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600" y="5667444"/>
            <a:ext cx="3086100" cy="1281455"/>
            <a:chOff x="0" y="0"/>
            <a:chExt cx="4114800" cy="17086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14800" cy="1708607"/>
            </a:xfrm>
            <a:custGeom>
              <a:avLst/>
              <a:gdLst/>
              <a:ahLst/>
              <a:cxnLst/>
              <a:rect l="l" t="t" r="r" b="b"/>
              <a:pathLst>
                <a:path w="4114800" h="1708607">
                  <a:moveTo>
                    <a:pt x="0" y="0"/>
                  </a:moveTo>
                  <a:lnTo>
                    <a:pt x="4114800" y="0"/>
                  </a:lnTo>
                  <a:lnTo>
                    <a:pt x="4114800" y="1708607"/>
                  </a:lnTo>
                  <a:lnTo>
                    <a:pt x="0" y="1708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114800" cy="17562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Use case 2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( weeks 6-10 )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484396" y="2530114"/>
            <a:ext cx="11432003" cy="101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80"/>
              </a:lnSpc>
            </a:pPr>
            <a:r>
              <a:rPr lang="en-US" sz="2800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Build a data-driven chatbot that recognizes and handles well formed and poorly formed patterns  by recognizing configurable patterns stored in a file.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84397" y="5811747"/>
            <a:ext cx="12017522" cy="156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80"/>
              </a:lnSpc>
            </a:pP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Build a real-time data scraper that scrapes data about public sentiments</a:t>
            </a:r>
          </a:p>
          <a:p>
            <a:pPr>
              <a:lnSpc>
                <a:spcPts val="4180"/>
              </a:lnSpc>
            </a:pP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and connect it to python-</a:t>
            </a:r>
            <a:r>
              <a:rPr lang="en-US" sz="2986" i="1" dirty="0" err="1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Jupyter</a:t>
            </a: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framework that will </a:t>
            </a:r>
          </a:p>
          <a:p>
            <a:pPr>
              <a:lnSpc>
                <a:spcPts val="4180"/>
              </a:lnSpc>
            </a:pP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clean, </a:t>
            </a:r>
            <a:r>
              <a:rPr lang="en-US" sz="2986" i="1" dirty="0" err="1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analyse</a:t>
            </a: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, derive features, and </a:t>
            </a:r>
            <a:r>
              <a:rPr lang="en-US" sz="2986" i="1" dirty="0" err="1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visualise</a:t>
            </a:r>
            <a:r>
              <a:rPr lang="en-US" sz="2986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findings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95894CAC-4CFC-D9E5-E3CA-93ED24F0E0E0}"/>
              </a:ext>
            </a:extLst>
          </p:cNvPr>
          <p:cNvGrpSpPr/>
          <p:nvPr/>
        </p:nvGrpSpPr>
        <p:grpSpPr>
          <a:xfrm>
            <a:off x="1371600" y="2530114"/>
            <a:ext cx="3086100" cy="1100629"/>
            <a:chOff x="0" y="0"/>
            <a:chExt cx="4114800" cy="1467505"/>
          </a:xfrm>
        </p:grpSpPr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64408E8-4A9F-F64A-F320-CA725A76556B}"/>
                </a:ext>
              </a:extLst>
            </p:cNvPr>
            <p:cNvSpPr/>
            <p:nvPr/>
          </p:nvSpPr>
          <p:spPr>
            <a:xfrm>
              <a:off x="0" y="0"/>
              <a:ext cx="4114800" cy="1467485"/>
            </a:xfrm>
            <a:custGeom>
              <a:avLst/>
              <a:gdLst/>
              <a:ahLst/>
              <a:cxnLst/>
              <a:rect l="l" t="t" r="r" b="b"/>
              <a:pathLst>
                <a:path w="4114800" h="1467485">
                  <a:moveTo>
                    <a:pt x="0" y="0"/>
                  </a:moveTo>
                  <a:lnTo>
                    <a:pt x="4114800" y="0"/>
                  </a:lnTo>
                  <a:lnTo>
                    <a:pt x="4114800" y="1467485"/>
                  </a:lnTo>
                  <a:lnTo>
                    <a:pt x="0" y="1467485"/>
                  </a:lnTo>
                  <a:close/>
                </a:path>
              </a:pathLst>
            </a:custGeom>
            <a:solidFill>
              <a:srgbClr val="D9777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FB532FF0-84E3-0BCE-6797-5D4C9840C7C4}"/>
              </a:ext>
            </a:extLst>
          </p:cNvPr>
          <p:cNvGrpSpPr/>
          <p:nvPr/>
        </p:nvGrpSpPr>
        <p:grpSpPr>
          <a:xfrm>
            <a:off x="1371600" y="2349288"/>
            <a:ext cx="3086100" cy="1281455"/>
            <a:chOff x="0" y="0"/>
            <a:chExt cx="4114800" cy="1708607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4E7B52F1-9D90-AE04-678E-82ED87DB3986}"/>
                </a:ext>
              </a:extLst>
            </p:cNvPr>
            <p:cNvSpPr/>
            <p:nvPr/>
          </p:nvSpPr>
          <p:spPr>
            <a:xfrm>
              <a:off x="0" y="0"/>
              <a:ext cx="4114800" cy="1708607"/>
            </a:xfrm>
            <a:custGeom>
              <a:avLst/>
              <a:gdLst/>
              <a:ahLst/>
              <a:cxnLst/>
              <a:rect l="l" t="t" r="r" b="b"/>
              <a:pathLst>
                <a:path w="4114800" h="1708607">
                  <a:moveTo>
                    <a:pt x="0" y="0"/>
                  </a:moveTo>
                  <a:lnTo>
                    <a:pt x="4114800" y="0"/>
                  </a:lnTo>
                  <a:lnTo>
                    <a:pt x="4114800" y="1708607"/>
                  </a:lnTo>
                  <a:lnTo>
                    <a:pt x="0" y="1708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45F80E6C-8222-14F2-BC15-B76D8C30BDA6}"/>
                </a:ext>
              </a:extLst>
            </p:cNvPr>
            <p:cNvSpPr txBox="1"/>
            <p:nvPr/>
          </p:nvSpPr>
          <p:spPr>
            <a:xfrm>
              <a:off x="0" y="-47625"/>
              <a:ext cx="4114800" cy="17562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Use case 1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( weeks 1-5 )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61110" y="2958483"/>
            <a:ext cx="1618115" cy="1618115"/>
            <a:chOff x="0" y="0"/>
            <a:chExt cx="2157487" cy="21574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476" cy="2157476"/>
            </a:xfrm>
            <a:custGeom>
              <a:avLst/>
              <a:gdLst/>
              <a:ahLst/>
              <a:cxnLst/>
              <a:rect l="l" t="t" r="r" b="b"/>
              <a:pathLst>
                <a:path w="2157476" h="2157476">
                  <a:moveTo>
                    <a:pt x="0" y="0"/>
                  </a:moveTo>
                  <a:lnTo>
                    <a:pt x="2157476" y="0"/>
                  </a:lnTo>
                  <a:lnTo>
                    <a:pt x="2157476" y="2157476"/>
                  </a:lnTo>
                  <a:lnTo>
                    <a:pt x="0" y="215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7300" y="2315735"/>
            <a:ext cx="2098985" cy="3126620"/>
            <a:chOff x="0" y="0"/>
            <a:chExt cx="2798647" cy="4168827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2747899" cy="4117975"/>
            </a:xfrm>
            <a:custGeom>
              <a:avLst/>
              <a:gdLst/>
              <a:ahLst/>
              <a:cxnLst/>
              <a:rect l="l" t="t" r="r" b="b"/>
              <a:pathLst>
                <a:path w="2747899" h="4117975">
                  <a:moveTo>
                    <a:pt x="0" y="0"/>
                  </a:moveTo>
                  <a:lnTo>
                    <a:pt x="2747899" y="0"/>
                  </a:lnTo>
                  <a:lnTo>
                    <a:pt x="2747899" y="4117975"/>
                  </a:lnTo>
                  <a:lnTo>
                    <a:pt x="0" y="4117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24" t="-991" r="-922" b="-9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798699" cy="4168775"/>
            </a:xfrm>
            <a:custGeom>
              <a:avLst/>
              <a:gdLst/>
              <a:ahLst/>
              <a:cxnLst/>
              <a:rect l="l" t="t" r="r" b="b"/>
              <a:pathLst>
                <a:path w="2798699" h="4168775">
                  <a:moveTo>
                    <a:pt x="25400" y="0"/>
                  </a:moveTo>
                  <a:lnTo>
                    <a:pt x="2773299" y="0"/>
                  </a:lnTo>
                  <a:cubicBezTo>
                    <a:pt x="2787269" y="0"/>
                    <a:pt x="2798699" y="11430"/>
                    <a:pt x="2798699" y="25400"/>
                  </a:cubicBezTo>
                  <a:lnTo>
                    <a:pt x="2798699" y="4143375"/>
                  </a:lnTo>
                  <a:cubicBezTo>
                    <a:pt x="2798699" y="4157345"/>
                    <a:pt x="2787269" y="4168775"/>
                    <a:pt x="2773299" y="4168775"/>
                  </a:cubicBezTo>
                  <a:lnTo>
                    <a:pt x="25400" y="4168775"/>
                  </a:lnTo>
                  <a:cubicBezTo>
                    <a:pt x="11430" y="4168775"/>
                    <a:pt x="0" y="4157345"/>
                    <a:pt x="0" y="414337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43375"/>
                  </a:lnTo>
                  <a:lnTo>
                    <a:pt x="25400" y="4143375"/>
                  </a:lnTo>
                  <a:lnTo>
                    <a:pt x="25400" y="4117975"/>
                  </a:lnTo>
                  <a:lnTo>
                    <a:pt x="2773299" y="4117975"/>
                  </a:lnTo>
                  <a:lnTo>
                    <a:pt x="2773299" y="4143375"/>
                  </a:lnTo>
                  <a:lnTo>
                    <a:pt x="2747899" y="4143375"/>
                  </a:lnTo>
                  <a:lnTo>
                    <a:pt x="2747899" y="25400"/>
                  </a:lnTo>
                  <a:lnTo>
                    <a:pt x="2773299" y="25400"/>
                  </a:lnTo>
                  <a:lnTo>
                    <a:pt x="2773299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7672853" y="2614589"/>
            <a:ext cx="3305048" cy="2528911"/>
          </a:xfrm>
          <a:custGeom>
            <a:avLst/>
            <a:gdLst/>
            <a:ahLst/>
            <a:cxnLst/>
            <a:rect l="l" t="t" r="r" b="b"/>
            <a:pathLst>
              <a:path w="3305048" h="2528911">
                <a:moveTo>
                  <a:pt x="0" y="0"/>
                </a:moveTo>
                <a:lnTo>
                  <a:pt x="3305048" y="0"/>
                </a:lnTo>
                <a:lnTo>
                  <a:pt x="3305048" y="2528911"/>
                </a:lnTo>
                <a:lnTo>
                  <a:pt x="0" y="252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91" b="-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600977" y="2042496"/>
            <a:ext cx="651523" cy="921176"/>
          </a:xfrm>
          <a:custGeom>
            <a:avLst/>
            <a:gdLst/>
            <a:ahLst/>
            <a:cxnLst/>
            <a:rect l="l" t="t" r="r" b="b"/>
            <a:pathLst>
              <a:path w="651523" h="921176">
                <a:moveTo>
                  <a:pt x="0" y="0"/>
                </a:moveTo>
                <a:lnTo>
                  <a:pt x="651523" y="0"/>
                </a:lnTo>
                <a:lnTo>
                  <a:pt x="651523" y="921176"/>
                </a:lnTo>
                <a:lnTo>
                  <a:pt x="0" y="921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87" r="-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600977" y="3430295"/>
            <a:ext cx="651523" cy="921176"/>
          </a:xfrm>
          <a:custGeom>
            <a:avLst/>
            <a:gdLst/>
            <a:ahLst/>
            <a:cxnLst/>
            <a:rect l="l" t="t" r="r" b="b"/>
            <a:pathLst>
              <a:path w="651523" h="921176">
                <a:moveTo>
                  <a:pt x="0" y="0"/>
                </a:moveTo>
                <a:lnTo>
                  <a:pt x="651523" y="0"/>
                </a:lnTo>
                <a:lnTo>
                  <a:pt x="651523" y="921176"/>
                </a:lnTo>
                <a:lnTo>
                  <a:pt x="0" y="921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87" r="-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600977" y="4571408"/>
            <a:ext cx="651523" cy="921176"/>
          </a:xfrm>
          <a:custGeom>
            <a:avLst/>
            <a:gdLst/>
            <a:ahLst/>
            <a:cxnLst/>
            <a:rect l="l" t="t" r="r" b="b"/>
            <a:pathLst>
              <a:path w="651523" h="921176">
                <a:moveTo>
                  <a:pt x="0" y="0"/>
                </a:moveTo>
                <a:lnTo>
                  <a:pt x="651523" y="0"/>
                </a:lnTo>
                <a:lnTo>
                  <a:pt x="651523" y="921176"/>
                </a:lnTo>
                <a:lnTo>
                  <a:pt x="0" y="921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87" r="-28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745755" y="2214443"/>
            <a:ext cx="2896113" cy="3106194"/>
            <a:chOff x="0" y="0"/>
            <a:chExt cx="3861484" cy="4141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61435" cy="4141597"/>
            </a:xfrm>
            <a:custGeom>
              <a:avLst/>
              <a:gdLst/>
              <a:ahLst/>
              <a:cxnLst/>
              <a:rect l="l" t="t" r="r" b="b"/>
              <a:pathLst>
                <a:path w="3861435" h="4141597">
                  <a:moveTo>
                    <a:pt x="0" y="0"/>
                  </a:moveTo>
                  <a:lnTo>
                    <a:pt x="3861435" y="0"/>
                  </a:lnTo>
                  <a:lnTo>
                    <a:pt x="3861435" y="4141597"/>
                  </a:lnTo>
                  <a:lnTo>
                    <a:pt x="0" y="414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2" r="-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167103" y="2832946"/>
            <a:ext cx="1947123" cy="1947123"/>
            <a:chOff x="0" y="0"/>
            <a:chExt cx="2596164" cy="25961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96134" cy="2596134"/>
            </a:xfrm>
            <a:custGeom>
              <a:avLst/>
              <a:gdLst/>
              <a:ahLst/>
              <a:cxnLst/>
              <a:rect l="l" t="t" r="r" b="b"/>
              <a:pathLst>
                <a:path w="2596134" h="2596134">
                  <a:moveTo>
                    <a:pt x="0" y="0"/>
                  </a:moveTo>
                  <a:lnTo>
                    <a:pt x="2596134" y="0"/>
                  </a:lnTo>
                  <a:lnTo>
                    <a:pt x="2596134" y="2596134"/>
                  </a:lnTo>
                  <a:lnTo>
                    <a:pt x="0" y="2596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475297"/>
            <a:ext cx="105419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Forms of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2619" y="9220200"/>
            <a:ext cx="17439680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8"/>
              </a:lnSpc>
            </a:pPr>
            <a:r>
              <a:rPr lang="en-US" sz="999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12" tooltip="https://www.google.com/url?sa=i&amp;url=https%3A%2F%2Fwordcloud.app%2Fauthors%2Fwilliam-shakespeare&amp;psig=AOvVaw0nyO3enEnjBUSsTKQWFS_o&amp;ust=1759321532304000&amp;source=images&amp;cd=vfe&amp;opi=89978449&amp;ved=0CBYQjRxqFwoTCLiPn829gJADFQAAAAAdAAAAABAJ"/>
              </a:rPr>
              <a:t>https://www.google.com/search?q=timeline+of+data+science&amp;sca_esv=d2ba6b5c7e3c259e&amp;sca_upv=1&amp;rlz=1C5CHFA_enGB1079GB1080&amp;udm=2&amp;source=lnms&amp;sa=X&amp;ved=2ahUKEwiD7sz9yeCIAxXZxgIHHfoPAVUQ_AUoAXoECAUQAw&amp;biw=1440&amp;bih=694&amp;dpr=2#vhid=mNb814IP6zoMNM&amp;vssid=mosa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75666" y="6404509"/>
            <a:ext cx="12349646" cy="55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8"/>
              </a:lnSpc>
            </a:pPr>
            <a:r>
              <a:rPr lang="en-US" sz="306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Writing programs to process raw data and turn it to information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90557" y="7213097"/>
            <a:ext cx="6455198" cy="55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8"/>
              </a:lnSpc>
            </a:pPr>
            <a:r>
              <a:rPr lang="en-US" sz="3069" b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Focus:  Text and numeric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C49F8-B98D-D7CA-20C6-ACE35DD7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7EAF49-7A51-487F-64D7-97C5BBF6CE12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7E8ED0-1F9D-55E3-3435-7916D24CDEA5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D46FF49-7BBF-8174-2E48-BE5D13E5E767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58DD6E-E156-DB15-9BDB-04DFCB7FD9FB}"/>
              </a:ext>
            </a:extLst>
          </p:cNvPr>
          <p:cNvSpPr txBox="1"/>
          <p:nvPr/>
        </p:nvSpPr>
        <p:spPr>
          <a:xfrm>
            <a:off x="1028700" y="475298"/>
            <a:ext cx="892316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Topic summary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82958D-8A33-AD99-351F-E36F020AD9E5}"/>
              </a:ext>
            </a:extLst>
          </p:cNvPr>
          <p:cNvSpPr txBox="1"/>
          <p:nvPr/>
        </p:nvSpPr>
        <p:spPr>
          <a:xfrm>
            <a:off x="1219200" y="1647825"/>
            <a:ext cx="12801600" cy="616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1. Intro, Python and Development environments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2. Simple patterns and decisions - Lists, control flow and functions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3. Pattern matching - Regular expressions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4. Data formats - File handling in Python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5. Cleaning data - Text pre-processing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6. Sourcing and cleaning data - APIS, Web scraping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7. Data from multiple sources - Data wrangling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8. Communicating from data - Plotting, visualization 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9. Predictions - Linear regression</a:t>
            </a:r>
          </a:p>
          <a:p>
            <a:pPr algn="l">
              <a:lnSpc>
                <a:spcPts val="4793"/>
              </a:lnSpc>
            </a:pPr>
            <a:r>
              <a:rPr lang="en-US" sz="342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10. Advanced topics</a:t>
            </a:r>
          </a:p>
        </p:txBody>
      </p:sp>
    </p:spTree>
    <p:extLst>
      <p:ext uri="{BB962C8B-B14F-4D97-AF65-F5344CB8AC3E}">
        <p14:creationId xmlns:p14="http://schemas.microsoft.com/office/powerpoint/2010/main" val="32283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Learning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87007"/>
            <a:ext cx="14831742" cy="511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8" lvl="2" indent="-190459" algn="just">
              <a:lnSpc>
                <a:spcPts val="3999"/>
              </a:lnSpc>
              <a:buFont typeface="Arial"/>
              <a:buChar char="⚬"/>
            </a:pP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Demonstrate a working knowledge of a programming environment for writing data-driven software </a:t>
            </a:r>
          </a:p>
          <a:p>
            <a:pPr marL="571378" lvl="2" indent="-190459" algn="just">
              <a:lnSpc>
                <a:spcPts val="3999"/>
              </a:lnSpc>
            </a:pPr>
            <a:endParaRPr lang="en-US" sz="2499" dirty="0">
              <a:solidFill>
                <a:schemeClr val="tx1">
                  <a:lumMod val="75000"/>
                  <a:lumOff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571378" lvl="2" indent="-190459" algn="just">
              <a:lnSpc>
                <a:spcPts val="3999"/>
              </a:lnSpc>
              <a:buFont typeface="Arial"/>
              <a:buChar char="⚬"/>
            </a:pP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Write simple programs to load, manipulate, </a:t>
            </a:r>
            <a:r>
              <a:rPr lang="en-US" sz="249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visualise</a:t>
            </a: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 and store data</a:t>
            </a:r>
          </a:p>
          <a:p>
            <a:pPr marL="571378" lvl="2" indent="-190459" algn="just">
              <a:lnSpc>
                <a:spcPts val="3999"/>
              </a:lnSpc>
            </a:pPr>
            <a:endParaRPr lang="en-US" sz="2499" dirty="0">
              <a:solidFill>
                <a:schemeClr val="tx1">
                  <a:lumMod val="75000"/>
                  <a:lumOff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571378" lvl="2" indent="-190459" algn="just">
              <a:lnSpc>
                <a:spcPts val="3999"/>
              </a:lnSpc>
              <a:buFont typeface="Arial"/>
              <a:buChar char="⚬"/>
            </a:pP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Retrieve data from various sources and </a:t>
            </a:r>
            <a:r>
              <a:rPr lang="en-US" sz="249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utilise</a:t>
            </a: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 AI-purposed libraries to prepare and  summarize data</a:t>
            </a:r>
          </a:p>
          <a:p>
            <a:pPr marL="571378" lvl="2" indent="-190459" algn="just">
              <a:lnSpc>
                <a:spcPts val="3999"/>
              </a:lnSpc>
            </a:pPr>
            <a:endParaRPr lang="en-US" sz="2499" dirty="0">
              <a:solidFill>
                <a:schemeClr val="tx1">
                  <a:lumMod val="75000"/>
                  <a:lumOff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571378" lvl="2" indent="-190459" algn="just">
              <a:lnSpc>
                <a:spcPts val="3999"/>
              </a:lnSpc>
              <a:buFont typeface="Arial"/>
              <a:buChar char="⚬"/>
            </a:pPr>
            <a:r>
              <a:rPr lang="en-US" sz="2499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Reason about data to make predictions and classifications</a:t>
            </a:r>
          </a:p>
          <a:p>
            <a:pPr marL="571378" lvl="2" indent="-190459" algn="just">
              <a:lnSpc>
                <a:spcPts val="3999"/>
              </a:lnSpc>
            </a:pPr>
            <a:endParaRPr lang="en-US" sz="2499" b="1" dirty="0">
              <a:solidFill>
                <a:schemeClr val="tx1">
                  <a:lumMod val="75000"/>
                  <a:lumOff val="25000"/>
                </a:schemeClr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571378" lvl="2" indent="-190459" algn="just">
              <a:lnSpc>
                <a:spcPts val="3999"/>
              </a:lnSpc>
              <a:buFont typeface="Arial"/>
              <a:buChar char="⚬"/>
            </a:pPr>
            <a:r>
              <a:rPr lang="en-US" sz="2499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Identify and address ethical, social, legal and professional issues involved in the computational gathering and use of data, including how they manifest in the workplace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75298"/>
            <a:ext cx="10541925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Tips to ace the module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4270" y="1990810"/>
            <a:ext cx="12001500" cy="595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6639" lvl="2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Having the right setup of tools and environment.</a:t>
            </a:r>
          </a:p>
          <a:p>
            <a:pPr marL="426639" lvl="2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26639" lvl="2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Following weekly process</a:t>
            </a:r>
          </a:p>
          <a:p>
            <a:pPr marL="1143725" lvl="3" indent="-285931">
              <a:lnSpc>
                <a:spcPts val="3919"/>
              </a:lnSpc>
              <a:buFont typeface="Arial"/>
              <a:buChar char="￭"/>
            </a:pPr>
            <a:r>
              <a:rPr lang="en-US" sz="27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Getting feedback from labs </a:t>
            </a:r>
          </a:p>
          <a:p>
            <a:pPr marL="1143725" lvl="3" indent="-285931">
              <a:lnSpc>
                <a:spcPts val="3919"/>
              </a:lnSpc>
              <a:buFont typeface="Arial"/>
              <a:buChar char="￭"/>
            </a:pPr>
            <a:r>
              <a:rPr lang="en-US" sz="27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Evidencing progress with logs</a:t>
            </a:r>
          </a:p>
          <a:p>
            <a:pPr marL="1143725" lvl="3" indent="-285931">
              <a:lnSpc>
                <a:spcPts val="3919"/>
              </a:lnSpc>
              <a:buFont typeface="Arial"/>
              <a:buChar char="￭"/>
            </a:pPr>
            <a:r>
              <a:rPr lang="en-US" sz="27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 submissions</a:t>
            </a:r>
          </a:p>
          <a:p>
            <a:pPr marL="426639" lvl="2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26639" lvl="2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Come prepared to lectures/labs</a:t>
            </a:r>
          </a:p>
          <a:p>
            <a:pPr marL="1143725" lvl="3" indent="-285931">
              <a:lnSpc>
                <a:spcPts val="3919"/>
              </a:lnSpc>
              <a:buFont typeface="Arial"/>
              <a:buChar char="￭"/>
            </a:pPr>
            <a:r>
              <a:rPr lang="en-US" sz="27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Domain is vast</a:t>
            </a:r>
          </a:p>
          <a:p>
            <a:pPr marL="1143725" lvl="3" indent="-285931">
              <a:lnSpc>
                <a:spcPts val="3919"/>
              </a:lnSpc>
              <a:buFont typeface="Arial"/>
              <a:buChar char="￭"/>
            </a:pPr>
            <a:r>
              <a:rPr lang="en-US" sz="27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Videos/readings or trying out programming tasks</a:t>
            </a:r>
          </a:p>
          <a:p>
            <a:pPr marL="426639" lvl="2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26639" lvl="2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" name="Group 5">
            <a:extLst>
              <a:ext uri="{FF2B5EF4-FFF2-40B4-BE49-F238E27FC236}">
                <a16:creationId xmlns:a16="http://schemas.microsoft.com/office/drawing/2014/main" id="{EB4E0016-EE15-3D01-3282-2887A7CD73DF}"/>
              </a:ext>
            </a:extLst>
          </p:cNvPr>
          <p:cNvGrpSpPr/>
          <p:nvPr/>
        </p:nvGrpSpPr>
        <p:grpSpPr>
          <a:xfrm>
            <a:off x="11589675" y="2253491"/>
            <a:ext cx="4593023" cy="1105808"/>
            <a:chOff x="0" y="0"/>
            <a:chExt cx="6124031" cy="1474411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9954E630-F5ED-F403-0102-43704A01B5A5}"/>
                </a:ext>
              </a:extLst>
            </p:cNvPr>
            <p:cNvSpPr/>
            <p:nvPr/>
          </p:nvSpPr>
          <p:spPr>
            <a:xfrm>
              <a:off x="0" y="0"/>
              <a:ext cx="6124067" cy="1474470"/>
            </a:xfrm>
            <a:custGeom>
              <a:avLst/>
              <a:gdLst/>
              <a:ahLst/>
              <a:cxnLst/>
              <a:rect l="l" t="t" r="r" b="b"/>
              <a:pathLst>
                <a:path w="6124067" h="1474470">
                  <a:moveTo>
                    <a:pt x="435229" y="0"/>
                  </a:moveTo>
                  <a:lnTo>
                    <a:pt x="5688838" y="0"/>
                  </a:lnTo>
                  <a:cubicBezTo>
                    <a:pt x="5804281" y="0"/>
                    <a:pt x="5914898" y="45847"/>
                    <a:pt x="5996559" y="127508"/>
                  </a:cubicBezTo>
                  <a:cubicBezTo>
                    <a:pt x="6078220" y="209169"/>
                    <a:pt x="6124067" y="319786"/>
                    <a:pt x="6124067" y="435229"/>
                  </a:cubicBezTo>
                  <a:lnTo>
                    <a:pt x="6124067" y="1039241"/>
                  </a:lnTo>
                  <a:cubicBezTo>
                    <a:pt x="6124067" y="1279652"/>
                    <a:pt x="5929249" y="1474470"/>
                    <a:pt x="5688838" y="1474470"/>
                  </a:cubicBezTo>
                  <a:lnTo>
                    <a:pt x="435229" y="1474470"/>
                  </a:lnTo>
                  <a:cubicBezTo>
                    <a:pt x="194818" y="1474470"/>
                    <a:pt x="0" y="1279525"/>
                    <a:pt x="0" y="1039241"/>
                  </a:cubicBezTo>
                  <a:lnTo>
                    <a:pt x="0" y="435229"/>
                  </a:lnTo>
                  <a:cubicBezTo>
                    <a:pt x="0" y="194818"/>
                    <a:pt x="194818" y="0"/>
                    <a:pt x="435229" y="0"/>
                  </a:cubicBezTo>
                  <a:close/>
                </a:path>
              </a:pathLst>
            </a:custGeom>
            <a:solidFill>
              <a:srgbClr val="D2E9B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29EE87B3-FB16-D891-88F6-D296410CEDA4}"/>
              </a:ext>
            </a:extLst>
          </p:cNvPr>
          <p:cNvGrpSpPr/>
          <p:nvPr/>
        </p:nvGrpSpPr>
        <p:grpSpPr>
          <a:xfrm>
            <a:off x="11589675" y="2000335"/>
            <a:ext cx="4593023" cy="1358964"/>
            <a:chOff x="0" y="0"/>
            <a:chExt cx="6124031" cy="1811952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5DB2920F-1065-C6B5-8F8A-3EB95E5BF2BE}"/>
                </a:ext>
              </a:extLst>
            </p:cNvPr>
            <p:cNvSpPr/>
            <p:nvPr/>
          </p:nvSpPr>
          <p:spPr>
            <a:xfrm>
              <a:off x="0" y="0"/>
              <a:ext cx="6124031" cy="1811952"/>
            </a:xfrm>
            <a:custGeom>
              <a:avLst/>
              <a:gdLst/>
              <a:ahLst/>
              <a:cxnLst/>
              <a:rect l="l" t="t" r="r" b="b"/>
              <a:pathLst>
                <a:path w="6124031" h="1811952">
                  <a:moveTo>
                    <a:pt x="0" y="0"/>
                  </a:moveTo>
                  <a:lnTo>
                    <a:pt x="6124031" y="0"/>
                  </a:lnTo>
                  <a:lnTo>
                    <a:pt x="6124031" y="1811952"/>
                  </a:lnTo>
                  <a:lnTo>
                    <a:pt x="0" y="1811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EDAAAEF3-3B97-314A-A078-CBF319BDA725}"/>
                </a:ext>
              </a:extLst>
            </p:cNvPr>
            <p:cNvSpPr txBox="1"/>
            <p:nvPr/>
          </p:nvSpPr>
          <p:spPr>
            <a:xfrm>
              <a:off x="0" y="-66675"/>
              <a:ext cx="6124031" cy="1878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D2D2D"/>
                  </a:solidFill>
                  <a:latin typeface="Lato Bold"/>
                  <a:ea typeface="Lato Bold"/>
                  <a:cs typeface="Lato Bold"/>
                  <a:sym typeface="Lato Bold"/>
                </a:rPr>
                <a:t>150 Notional Hours</a:t>
              </a:r>
            </a:p>
          </p:txBody>
        </p:sp>
      </p:grpSp>
      <p:grpSp>
        <p:nvGrpSpPr>
          <p:cNvPr id="32" name="Group 14">
            <a:extLst>
              <a:ext uri="{FF2B5EF4-FFF2-40B4-BE49-F238E27FC236}">
                <a16:creationId xmlns:a16="http://schemas.microsoft.com/office/drawing/2014/main" id="{1B9B7D77-2B58-B836-C3AC-E0A0BBDC8217}"/>
              </a:ext>
            </a:extLst>
          </p:cNvPr>
          <p:cNvGrpSpPr/>
          <p:nvPr/>
        </p:nvGrpSpPr>
        <p:grpSpPr>
          <a:xfrm>
            <a:off x="12092414" y="3359299"/>
            <a:ext cx="3587546" cy="1086837"/>
            <a:chOff x="0" y="0"/>
            <a:chExt cx="4783395" cy="1449116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CE041906-01D1-890B-1FAE-6E01C5C92E17}"/>
                </a:ext>
              </a:extLst>
            </p:cNvPr>
            <p:cNvSpPr/>
            <p:nvPr/>
          </p:nvSpPr>
          <p:spPr>
            <a:xfrm>
              <a:off x="0" y="0"/>
              <a:ext cx="4783328" cy="1449070"/>
            </a:xfrm>
            <a:custGeom>
              <a:avLst/>
              <a:gdLst/>
              <a:ahLst/>
              <a:cxnLst/>
              <a:rect l="l" t="t" r="r" b="b"/>
              <a:pathLst>
                <a:path w="4783328" h="1449070">
                  <a:moveTo>
                    <a:pt x="557149" y="0"/>
                  </a:moveTo>
                  <a:lnTo>
                    <a:pt x="4226179" y="0"/>
                  </a:lnTo>
                  <a:cubicBezTo>
                    <a:pt x="4374007" y="0"/>
                    <a:pt x="4515612" y="58674"/>
                    <a:pt x="4620133" y="163195"/>
                  </a:cubicBezTo>
                  <a:cubicBezTo>
                    <a:pt x="4724654" y="267716"/>
                    <a:pt x="4783328" y="409448"/>
                    <a:pt x="4783328" y="557149"/>
                  </a:cubicBezTo>
                  <a:lnTo>
                    <a:pt x="4783328" y="891921"/>
                  </a:lnTo>
                  <a:cubicBezTo>
                    <a:pt x="4783328" y="1039749"/>
                    <a:pt x="4724654" y="1181354"/>
                    <a:pt x="4620133" y="1285875"/>
                  </a:cubicBezTo>
                  <a:cubicBezTo>
                    <a:pt x="4515612" y="1390396"/>
                    <a:pt x="4373880" y="1449070"/>
                    <a:pt x="4226179" y="1449070"/>
                  </a:cubicBezTo>
                  <a:lnTo>
                    <a:pt x="557149" y="1449070"/>
                  </a:lnTo>
                  <a:cubicBezTo>
                    <a:pt x="409321" y="1449070"/>
                    <a:pt x="267716" y="1390396"/>
                    <a:pt x="163195" y="1285875"/>
                  </a:cubicBezTo>
                  <a:cubicBezTo>
                    <a:pt x="58674" y="1181354"/>
                    <a:pt x="0" y="1039749"/>
                    <a:pt x="0" y="891921"/>
                  </a:cubicBezTo>
                  <a:lnTo>
                    <a:pt x="0" y="557149"/>
                  </a:lnTo>
                  <a:cubicBezTo>
                    <a:pt x="0" y="409448"/>
                    <a:pt x="58674" y="267716"/>
                    <a:pt x="163195" y="163195"/>
                  </a:cubicBezTo>
                  <a:cubicBezTo>
                    <a:pt x="267716" y="58674"/>
                    <a:pt x="409448" y="0"/>
                    <a:pt x="557149" y="0"/>
                  </a:cubicBezTo>
                  <a:close/>
                </a:path>
              </a:pathLst>
            </a:custGeom>
            <a:solidFill>
              <a:srgbClr val="D2E9B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16">
            <a:extLst>
              <a:ext uri="{FF2B5EF4-FFF2-40B4-BE49-F238E27FC236}">
                <a16:creationId xmlns:a16="http://schemas.microsoft.com/office/drawing/2014/main" id="{D26AC032-53FE-F90A-3CF0-A3C0C024E146}"/>
              </a:ext>
            </a:extLst>
          </p:cNvPr>
          <p:cNvGrpSpPr/>
          <p:nvPr/>
        </p:nvGrpSpPr>
        <p:grpSpPr>
          <a:xfrm>
            <a:off x="12092414" y="3178473"/>
            <a:ext cx="3587546" cy="1267663"/>
            <a:chOff x="0" y="0"/>
            <a:chExt cx="4783395" cy="1690218"/>
          </a:xfrm>
        </p:grpSpPr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2918ECD3-0647-1F72-575E-7192877709D6}"/>
                </a:ext>
              </a:extLst>
            </p:cNvPr>
            <p:cNvSpPr/>
            <p:nvPr/>
          </p:nvSpPr>
          <p:spPr>
            <a:xfrm>
              <a:off x="0" y="0"/>
              <a:ext cx="4783395" cy="1690218"/>
            </a:xfrm>
            <a:custGeom>
              <a:avLst/>
              <a:gdLst/>
              <a:ahLst/>
              <a:cxnLst/>
              <a:rect l="l" t="t" r="r" b="b"/>
              <a:pathLst>
                <a:path w="4783395" h="1690218">
                  <a:moveTo>
                    <a:pt x="0" y="0"/>
                  </a:moveTo>
                  <a:lnTo>
                    <a:pt x="4783395" y="0"/>
                  </a:lnTo>
                  <a:lnTo>
                    <a:pt x="4783395" y="1690218"/>
                  </a:lnTo>
                  <a:lnTo>
                    <a:pt x="0" y="1690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8788D624-FAB6-7C07-5558-F368B9C658DF}"/>
                </a:ext>
              </a:extLst>
            </p:cNvPr>
            <p:cNvSpPr txBox="1"/>
            <p:nvPr/>
          </p:nvSpPr>
          <p:spPr>
            <a:xfrm>
              <a:off x="0" y="-47625"/>
              <a:ext cx="4783395" cy="1737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2D2D2D"/>
                  </a:solidFill>
                  <a:latin typeface="Lato Bold"/>
                  <a:ea typeface="Lato Bold"/>
                  <a:cs typeface="Lato Bold"/>
                  <a:sym typeface="Lato Bold"/>
                </a:rPr>
                <a:t>40-50 hours (lectures/labs)</a:t>
              </a:r>
            </a:p>
          </p:txBody>
        </p:sp>
      </p:grpSp>
      <p:grpSp>
        <p:nvGrpSpPr>
          <p:cNvPr id="37" name="Group 19">
            <a:extLst>
              <a:ext uri="{FF2B5EF4-FFF2-40B4-BE49-F238E27FC236}">
                <a16:creationId xmlns:a16="http://schemas.microsoft.com/office/drawing/2014/main" id="{16745C1E-E0CF-F36D-A099-26CB6875103A}"/>
              </a:ext>
            </a:extLst>
          </p:cNvPr>
          <p:cNvGrpSpPr/>
          <p:nvPr/>
        </p:nvGrpSpPr>
        <p:grpSpPr>
          <a:xfrm>
            <a:off x="12092414" y="4362924"/>
            <a:ext cx="3587546" cy="1086837"/>
            <a:chOff x="0" y="0"/>
            <a:chExt cx="4783395" cy="1449116"/>
          </a:xfrm>
        </p:grpSpPr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A5CF3D21-4534-108C-07A1-F448D6A2EC17}"/>
                </a:ext>
              </a:extLst>
            </p:cNvPr>
            <p:cNvSpPr/>
            <p:nvPr/>
          </p:nvSpPr>
          <p:spPr>
            <a:xfrm>
              <a:off x="0" y="0"/>
              <a:ext cx="4783328" cy="1449070"/>
            </a:xfrm>
            <a:custGeom>
              <a:avLst/>
              <a:gdLst/>
              <a:ahLst/>
              <a:cxnLst/>
              <a:rect l="l" t="t" r="r" b="b"/>
              <a:pathLst>
                <a:path w="4783328" h="1449070">
                  <a:moveTo>
                    <a:pt x="557149" y="0"/>
                  </a:moveTo>
                  <a:lnTo>
                    <a:pt x="4226179" y="0"/>
                  </a:lnTo>
                  <a:cubicBezTo>
                    <a:pt x="4374007" y="0"/>
                    <a:pt x="4515612" y="58674"/>
                    <a:pt x="4620133" y="163195"/>
                  </a:cubicBezTo>
                  <a:cubicBezTo>
                    <a:pt x="4724654" y="267716"/>
                    <a:pt x="4783328" y="409448"/>
                    <a:pt x="4783328" y="557149"/>
                  </a:cubicBezTo>
                  <a:lnTo>
                    <a:pt x="4783328" y="891921"/>
                  </a:lnTo>
                  <a:cubicBezTo>
                    <a:pt x="4783328" y="1039749"/>
                    <a:pt x="4724654" y="1181354"/>
                    <a:pt x="4620133" y="1285875"/>
                  </a:cubicBezTo>
                  <a:cubicBezTo>
                    <a:pt x="4515612" y="1390396"/>
                    <a:pt x="4373880" y="1449070"/>
                    <a:pt x="4226179" y="1449070"/>
                  </a:cubicBezTo>
                  <a:lnTo>
                    <a:pt x="557149" y="1449070"/>
                  </a:lnTo>
                  <a:cubicBezTo>
                    <a:pt x="409321" y="1449070"/>
                    <a:pt x="267716" y="1390396"/>
                    <a:pt x="163195" y="1285875"/>
                  </a:cubicBezTo>
                  <a:cubicBezTo>
                    <a:pt x="58674" y="1181354"/>
                    <a:pt x="0" y="1039749"/>
                    <a:pt x="0" y="891921"/>
                  </a:cubicBezTo>
                  <a:lnTo>
                    <a:pt x="0" y="557149"/>
                  </a:lnTo>
                  <a:cubicBezTo>
                    <a:pt x="0" y="409448"/>
                    <a:pt x="58674" y="267716"/>
                    <a:pt x="163195" y="163195"/>
                  </a:cubicBezTo>
                  <a:cubicBezTo>
                    <a:pt x="267716" y="58674"/>
                    <a:pt x="409448" y="0"/>
                    <a:pt x="557149" y="0"/>
                  </a:cubicBezTo>
                  <a:close/>
                </a:path>
              </a:pathLst>
            </a:custGeom>
            <a:solidFill>
              <a:srgbClr val="D2E9B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21">
            <a:extLst>
              <a:ext uri="{FF2B5EF4-FFF2-40B4-BE49-F238E27FC236}">
                <a16:creationId xmlns:a16="http://schemas.microsoft.com/office/drawing/2014/main" id="{DFC50220-5075-6B5A-08C9-D1878C65030B}"/>
              </a:ext>
            </a:extLst>
          </p:cNvPr>
          <p:cNvGrpSpPr/>
          <p:nvPr/>
        </p:nvGrpSpPr>
        <p:grpSpPr>
          <a:xfrm>
            <a:off x="12092414" y="4182098"/>
            <a:ext cx="3587546" cy="1267663"/>
            <a:chOff x="0" y="0"/>
            <a:chExt cx="4783395" cy="1690218"/>
          </a:xfrm>
        </p:grpSpPr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4FE691C3-3BE8-3A88-5310-759F35F78369}"/>
                </a:ext>
              </a:extLst>
            </p:cNvPr>
            <p:cNvSpPr/>
            <p:nvPr/>
          </p:nvSpPr>
          <p:spPr>
            <a:xfrm>
              <a:off x="0" y="0"/>
              <a:ext cx="4783395" cy="1690218"/>
            </a:xfrm>
            <a:custGeom>
              <a:avLst/>
              <a:gdLst/>
              <a:ahLst/>
              <a:cxnLst/>
              <a:rect l="l" t="t" r="r" b="b"/>
              <a:pathLst>
                <a:path w="4783395" h="1690218">
                  <a:moveTo>
                    <a:pt x="0" y="0"/>
                  </a:moveTo>
                  <a:lnTo>
                    <a:pt x="4783395" y="0"/>
                  </a:lnTo>
                  <a:lnTo>
                    <a:pt x="4783395" y="1690218"/>
                  </a:lnTo>
                  <a:lnTo>
                    <a:pt x="0" y="1690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9922C81A-6D13-2558-3D86-0C7904DCABFF}"/>
                </a:ext>
              </a:extLst>
            </p:cNvPr>
            <p:cNvSpPr txBox="1"/>
            <p:nvPr/>
          </p:nvSpPr>
          <p:spPr>
            <a:xfrm>
              <a:off x="0" y="-47625"/>
              <a:ext cx="4783395" cy="1737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2D2D2D"/>
                  </a:solidFill>
                  <a:latin typeface="Lato Bold"/>
                  <a:ea typeface="Lato Bold"/>
                  <a:cs typeface="Lato Bold"/>
                  <a:sym typeface="Lato Bold"/>
                </a:rPr>
                <a:t>~2-3 hours of Prep</a:t>
              </a:r>
            </a:p>
          </p:txBody>
        </p:sp>
      </p:grpSp>
      <p:grpSp>
        <p:nvGrpSpPr>
          <p:cNvPr id="42" name="Group 24">
            <a:extLst>
              <a:ext uri="{FF2B5EF4-FFF2-40B4-BE49-F238E27FC236}">
                <a16:creationId xmlns:a16="http://schemas.microsoft.com/office/drawing/2014/main" id="{923D0205-832B-B19E-786F-BB3D1FB859E2}"/>
              </a:ext>
            </a:extLst>
          </p:cNvPr>
          <p:cNvGrpSpPr/>
          <p:nvPr/>
        </p:nvGrpSpPr>
        <p:grpSpPr>
          <a:xfrm>
            <a:off x="12092414" y="5420199"/>
            <a:ext cx="3565442" cy="1086837"/>
            <a:chOff x="0" y="0"/>
            <a:chExt cx="4753923" cy="1449116"/>
          </a:xfrm>
        </p:grpSpPr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0791D81A-33EA-092E-C8F3-8F2CD7C251C9}"/>
                </a:ext>
              </a:extLst>
            </p:cNvPr>
            <p:cNvSpPr/>
            <p:nvPr/>
          </p:nvSpPr>
          <p:spPr>
            <a:xfrm>
              <a:off x="0" y="0"/>
              <a:ext cx="4753864" cy="1449070"/>
            </a:xfrm>
            <a:custGeom>
              <a:avLst/>
              <a:gdLst/>
              <a:ahLst/>
              <a:cxnLst/>
              <a:rect l="l" t="t" r="r" b="b"/>
              <a:pathLst>
                <a:path w="4753864" h="1449070">
                  <a:moveTo>
                    <a:pt x="560578" y="0"/>
                  </a:moveTo>
                  <a:lnTo>
                    <a:pt x="4193286" y="0"/>
                  </a:lnTo>
                  <a:cubicBezTo>
                    <a:pt x="4342003" y="0"/>
                    <a:pt x="4484624" y="59055"/>
                    <a:pt x="4589653" y="164211"/>
                  </a:cubicBezTo>
                  <a:cubicBezTo>
                    <a:pt x="4694682" y="269367"/>
                    <a:pt x="4753864" y="411988"/>
                    <a:pt x="4753864" y="560578"/>
                  </a:cubicBezTo>
                  <a:lnTo>
                    <a:pt x="4753864" y="888492"/>
                  </a:lnTo>
                  <a:cubicBezTo>
                    <a:pt x="4753864" y="1198118"/>
                    <a:pt x="4502912" y="1449070"/>
                    <a:pt x="4193286" y="1449070"/>
                  </a:cubicBezTo>
                  <a:lnTo>
                    <a:pt x="560578" y="1449070"/>
                  </a:lnTo>
                  <a:cubicBezTo>
                    <a:pt x="411861" y="1449070"/>
                    <a:pt x="269240" y="1390015"/>
                    <a:pt x="164211" y="1284859"/>
                  </a:cubicBezTo>
                  <a:cubicBezTo>
                    <a:pt x="59182" y="1179703"/>
                    <a:pt x="0" y="1037209"/>
                    <a:pt x="0" y="888492"/>
                  </a:cubicBezTo>
                  <a:lnTo>
                    <a:pt x="0" y="560578"/>
                  </a:lnTo>
                  <a:cubicBezTo>
                    <a:pt x="0" y="411988"/>
                    <a:pt x="59055" y="269367"/>
                    <a:pt x="164211" y="164211"/>
                  </a:cubicBezTo>
                  <a:cubicBezTo>
                    <a:pt x="269367" y="59055"/>
                    <a:pt x="411988" y="0"/>
                    <a:pt x="560578" y="0"/>
                  </a:cubicBezTo>
                  <a:close/>
                </a:path>
              </a:pathLst>
            </a:custGeom>
            <a:solidFill>
              <a:srgbClr val="D2E9B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26">
            <a:extLst>
              <a:ext uri="{FF2B5EF4-FFF2-40B4-BE49-F238E27FC236}">
                <a16:creationId xmlns:a16="http://schemas.microsoft.com/office/drawing/2014/main" id="{08BB654C-E200-89A7-9B86-B23DC659485D}"/>
              </a:ext>
            </a:extLst>
          </p:cNvPr>
          <p:cNvGrpSpPr/>
          <p:nvPr/>
        </p:nvGrpSpPr>
        <p:grpSpPr>
          <a:xfrm>
            <a:off x="12092414" y="5239373"/>
            <a:ext cx="3565442" cy="1267663"/>
            <a:chOff x="0" y="0"/>
            <a:chExt cx="4753923" cy="1690218"/>
          </a:xfrm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CCD9471A-FD7D-522B-C6C6-7139FB2181DA}"/>
                </a:ext>
              </a:extLst>
            </p:cNvPr>
            <p:cNvSpPr/>
            <p:nvPr/>
          </p:nvSpPr>
          <p:spPr>
            <a:xfrm>
              <a:off x="0" y="0"/>
              <a:ext cx="4753923" cy="1690218"/>
            </a:xfrm>
            <a:custGeom>
              <a:avLst/>
              <a:gdLst/>
              <a:ahLst/>
              <a:cxnLst/>
              <a:rect l="l" t="t" r="r" b="b"/>
              <a:pathLst>
                <a:path w="4753923" h="1690218">
                  <a:moveTo>
                    <a:pt x="0" y="0"/>
                  </a:moveTo>
                  <a:lnTo>
                    <a:pt x="4753923" y="0"/>
                  </a:lnTo>
                  <a:lnTo>
                    <a:pt x="4753923" y="1690218"/>
                  </a:lnTo>
                  <a:lnTo>
                    <a:pt x="0" y="1690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28">
              <a:extLst>
                <a:ext uri="{FF2B5EF4-FFF2-40B4-BE49-F238E27FC236}">
                  <a16:creationId xmlns:a16="http://schemas.microsoft.com/office/drawing/2014/main" id="{704AB8AA-D804-C48B-58F3-3012DA6EE780}"/>
                </a:ext>
              </a:extLst>
            </p:cNvPr>
            <p:cNvSpPr txBox="1"/>
            <p:nvPr/>
          </p:nvSpPr>
          <p:spPr>
            <a:xfrm>
              <a:off x="0" y="-47625"/>
              <a:ext cx="4753923" cy="1737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2D2D2D"/>
                  </a:solidFill>
                  <a:latin typeface="Lato Bold"/>
                  <a:ea typeface="Lato Bold"/>
                  <a:cs typeface="Lato Bold"/>
                  <a:sym typeface="Lato Bold"/>
                </a:rPr>
                <a:t>~5 hours of independent exploratioln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809315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Assessments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34563"/>
              </p:ext>
            </p:extLst>
          </p:nvPr>
        </p:nvGraphicFramePr>
        <p:xfrm>
          <a:off x="1650120" y="2756337"/>
          <a:ext cx="12139068" cy="2691964"/>
        </p:xfrm>
        <a:graphic>
          <a:graphicData uri="http://schemas.openxmlformats.org/drawingml/2006/table">
            <a:tbl>
              <a:tblPr/>
              <a:tblGrid>
                <a:gridCol w="2596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3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9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9534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Assessment type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%Weightage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Graded or pass fail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Assessment to be passed to complete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Learning outcome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31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Coursework 1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50%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Graded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 – 1,2 and 3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31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Coursework 2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50%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Graded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75C9C1-EF83-00DD-14CD-163DE4B4B793}"/>
              </a:ext>
            </a:extLst>
          </p:cNvPr>
          <p:cNvSpPr txBox="1"/>
          <p:nvPr/>
        </p:nvSpPr>
        <p:spPr>
          <a:xfrm>
            <a:off x="1219199" y="5993152"/>
            <a:ext cx="12569989" cy="1849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lvl="2">
              <a:lnSpc>
                <a:spcPts val="3520"/>
              </a:lnSpc>
            </a:pPr>
            <a:r>
              <a:rPr lang="en-GB" sz="2500" b="1" dirty="0"/>
              <a:t>Formative work</a:t>
            </a:r>
            <a:r>
              <a:rPr lang="en-GB" sz="2500" dirty="0"/>
              <a:t> </a:t>
            </a:r>
            <a:r>
              <a:rPr lang="en-GB" sz="2500" b="1" dirty="0"/>
              <a:t>:</a:t>
            </a:r>
            <a:r>
              <a:rPr lang="en-GB" sz="2500" dirty="0"/>
              <a:t> </a:t>
            </a:r>
          </a:p>
          <a:p>
            <a:pPr marL="1135380" lvl="3" indent="-342900">
              <a:lnSpc>
                <a:spcPts val="3520"/>
              </a:lnSpc>
              <a:buFont typeface="Arial" panose="020B0604020202020204" pitchFamily="34" charset="0"/>
              <a:buChar char="•"/>
            </a:pPr>
            <a:r>
              <a:rPr lang="en-GB" sz="2200" b="1" dirty="0"/>
              <a:t>9 Lab sessions.</a:t>
            </a:r>
            <a:endParaRPr lang="en-GB" sz="2200" dirty="0"/>
          </a:p>
          <a:p>
            <a:pPr marL="1135380" lvl="3" indent="-342900">
              <a:lnSpc>
                <a:spcPts val="352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Ability to do iterative development.</a:t>
            </a:r>
          </a:p>
          <a:p>
            <a:pPr marL="1135380" lvl="3" indent="-342900">
              <a:lnSpc>
                <a:spcPts val="352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Contributes to discretionary grade.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D11F4-6C6B-35AE-08D1-FF70A3638D65}"/>
              </a:ext>
            </a:extLst>
          </p:cNvPr>
          <p:cNvSpPr txBox="1"/>
          <p:nvPr/>
        </p:nvSpPr>
        <p:spPr>
          <a:xfrm>
            <a:off x="1219199" y="1932107"/>
            <a:ext cx="12569989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lvl="2">
              <a:lnSpc>
                <a:spcPts val="3520"/>
              </a:lnSpc>
            </a:pPr>
            <a:r>
              <a:rPr lang="en-GB" sz="2500" b="1" dirty="0"/>
              <a:t>Summative work 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8D015-E736-A924-A2E6-341F2EFA3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ADC1D7-18B8-0E0D-AC6F-AF3D948FB717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9B1FCF-679A-C635-A8BD-352B0B2DA985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338188-FC9C-C360-5631-708856706D89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2C5BA8C-CBE8-661D-8140-ACBBCF3B29B9}"/>
              </a:ext>
            </a:extLst>
          </p:cNvPr>
          <p:cNvSpPr txBox="1"/>
          <p:nvPr/>
        </p:nvSpPr>
        <p:spPr>
          <a:xfrm>
            <a:off x="1028700" y="475297"/>
            <a:ext cx="8093157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Use of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720F6-BE7A-0877-1FCE-5B3C7A1D8E80}"/>
              </a:ext>
            </a:extLst>
          </p:cNvPr>
          <p:cNvSpPr txBox="1"/>
          <p:nvPr/>
        </p:nvSpPr>
        <p:spPr>
          <a:xfrm>
            <a:off x="381000" y="1718817"/>
            <a:ext cx="16002000" cy="632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lvl="2" algn="ctr">
              <a:lnSpc>
                <a:spcPts val="3520"/>
              </a:lnSpc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Use AI </a:t>
            </a:r>
            <a:r>
              <a:rPr lang="en-US" sz="2200" b="1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ONLY </a:t>
            </a: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with prior </a:t>
            </a:r>
            <a:r>
              <a:rPr lang="en-US" sz="2200" b="1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approval </a:t>
            </a: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from </a:t>
            </a:r>
            <a:r>
              <a:rPr lang="en-US" sz="2200" b="1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module leader </a:t>
            </a: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en-US" sz="2200" b="1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specific tasks</a:t>
            </a:r>
          </a:p>
          <a:p>
            <a:pPr marL="674053" lvl="3" algn="ctr">
              <a:lnSpc>
                <a:spcPts val="3520"/>
              </a:lnSpc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674053" lvl="3" algn="ctr">
              <a:lnSpc>
                <a:spcPts val="3520"/>
              </a:lnSpc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674053" lvl="3" algn="just">
              <a:lnSpc>
                <a:spcPts val="3520"/>
              </a:lnSpc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674053" lvl="3" algn="ctr">
              <a:lnSpc>
                <a:spcPts val="3520"/>
              </a:lnSpc>
            </a:pPr>
            <a:r>
              <a:rPr lang="en-GB" sz="2200" b="1" dirty="0"/>
              <a:t>In each lab session:</a:t>
            </a:r>
            <a:r>
              <a:rPr lang="en-GB" sz="2200" dirty="0"/>
              <a:t> Record your AI use and obtain approval from the module leader.</a:t>
            </a:r>
            <a:endParaRPr lang="en-US" sz="2200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endParaRPr lang="en-US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endParaRPr lang="en-GB" b="1" dirty="0"/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endParaRPr lang="en-GB" b="1" dirty="0"/>
          </a:p>
          <a:p>
            <a:pPr marL="674053" lvl="3" algn="just">
              <a:lnSpc>
                <a:spcPts val="3520"/>
              </a:lnSpc>
            </a:pPr>
            <a:endParaRPr lang="en-GB" b="1" dirty="0"/>
          </a:p>
          <a:p>
            <a:pPr marL="674053" lvl="3" algn="just">
              <a:lnSpc>
                <a:spcPts val="3520"/>
              </a:lnSpc>
            </a:pPr>
            <a:endParaRPr lang="en-GB" b="1" dirty="0"/>
          </a:p>
          <a:p>
            <a:pPr marL="674053" lvl="3" algn="just">
              <a:lnSpc>
                <a:spcPts val="3520"/>
              </a:lnSpc>
            </a:pPr>
            <a:endParaRPr lang="en-GB" b="1" dirty="0"/>
          </a:p>
          <a:p>
            <a:pPr marL="674053" lvl="3" algn="just">
              <a:lnSpc>
                <a:spcPts val="3520"/>
              </a:lnSpc>
            </a:pPr>
            <a:endParaRPr lang="en-US" sz="2200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AA0353-F210-9B55-7DEE-33310DA20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70350"/>
              </p:ext>
            </p:extLst>
          </p:nvPr>
        </p:nvGraphicFramePr>
        <p:xfrm>
          <a:off x="1600200" y="2651562"/>
          <a:ext cx="13830300" cy="1403436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1946157094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771454405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390424319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3813307855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659720016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060691107"/>
                    </a:ext>
                  </a:extLst>
                </a:gridCol>
              </a:tblGrid>
              <a:tr h="740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Week / Lab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AI tool &amp; purpose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Approval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Prompt(s)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Evidence of approval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Evidence of approved commit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544362"/>
                  </a:ext>
                </a:extLst>
              </a:tr>
              <a:tr h="52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 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 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Lab/date + what was approved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 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VLE feedback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GitHub commit ID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30025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FC883FA3-4ED4-CC80-A016-1D06C09C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257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AA458E8-E0E4-3085-BEB4-CC1108B07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16002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30BC43C-9252-2C09-47AA-EDE305AD0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06039"/>
              </p:ext>
            </p:extLst>
          </p:nvPr>
        </p:nvGraphicFramePr>
        <p:xfrm>
          <a:off x="1601490" y="5261944"/>
          <a:ext cx="13829010" cy="2775036"/>
        </p:xfrm>
        <a:graphic>
          <a:graphicData uri="http://schemas.openxmlformats.org/drawingml/2006/table">
            <a:tbl>
              <a:tblPr/>
              <a:tblGrid>
                <a:gridCol w="2304835">
                  <a:extLst>
                    <a:ext uri="{9D8B030D-6E8A-4147-A177-3AD203B41FA5}">
                      <a16:colId xmlns:a16="http://schemas.microsoft.com/office/drawing/2014/main" val="1946157094"/>
                    </a:ext>
                  </a:extLst>
                </a:gridCol>
                <a:gridCol w="2304835">
                  <a:extLst>
                    <a:ext uri="{9D8B030D-6E8A-4147-A177-3AD203B41FA5}">
                      <a16:colId xmlns:a16="http://schemas.microsoft.com/office/drawing/2014/main" val="1771454405"/>
                    </a:ext>
                  </a:extLst>
                </a:gridCol>
                <a:gridCol w="2304835">
                  <a:extLst>
                    <a:ext uri="{9D8B030D-6E8A-4147-A177-3AD203B41FA5}">
                      <a16:colId xmlns:a16="http://schemas.microsoft.com/office/drawing/2014/main" val="3904243192"/>
                    </a:ext>
                  </a:extLst>
                </a:gridCol>
                <a:gridCol w="2304835">
                  <a:extLst>
                    <a:ext uri="{9D8B030D-6E8A-4147-A177-3AD203B41FA5}">
                      <a16:colId xmlns:a16="http://schemas.microsoft.com/office/drawing/2014/main" val="3813307855"/>
                    </a:ext>
                  </a:extLst>
                </a:gridCol>
                <a:gridCol w="2304835">
                  <a:extLst>
                    <a:ext uri="{9D8B030D-6E8A-4147-A177-3AD203B41FA5}">
                      <a16:colId xmlns:a16="http://schemas.microsoft.com/office/drawing/2014/main" val="2659720016"/>
                    </a:ext>
                  </a:extLst>
                </a:gridCol>
                <a:gridCol w="2304835">
                  <a:extLst>
                    <a:ext uri="{9D8B030D-6E8A-4147-A177-3AD203B41FA5}">
                      <a16:colId xmlns:a16="http://schemas.microsoft.com/office/drawing/2014/main" val="1060691107"/>
                    </a:ext>
                  </a:extLst>
                </a:gridCol>
              </a:tblGrid>
              <a:tr h="740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Week / Lab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AI tool &amp; purpose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Approval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Prompt(s)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Evidence of approval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Evidence of approved commit</a:t>
                      </a:r>
                      <a:endParaRPr lang="en-GB" dirty="0"/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544362"/>
                  </a:ext>
                </a:extLst>
              </a:tr>
              <a:tr h="5237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 4 / Lab 4</a:t>
                      </a:r>
                    </a:p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  <a:r>
                        <a:rPr lang="en-GB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Copilot – generated sample CSV data to test Python code for reading, processing and validating CSV files</a:t>
                      </a:r>
                    </a:p>
                    <a:p>
                      <a:pPr>
                        <a:buNone/>
                      </a:pPr>
                      <a:endParaRPr lang="en-GB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Lab/</a:t>
                      </a:r>
                      <a:r>
                        <a:rPr lang="en-GB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25/09/2026, Lab 4 - module leader approved using AI to generate test data for development and testing.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Generate a small CSV dataset containing customer records, including some missing and invalid values, that I can use to test my CSV processing code</a:t>
                      </a: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 VLE feedback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 Lab 4 AI approval commit</a:t>
                      </a:r>
                      <a:endParaRPr lang="en-GB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GitHub commit `a83f21c`</a:t>
                      </a:r>
                    </a:p>
                    <a:p>
                      <a:pPr>
                        <a:buNone/>
                      </a:pPr>
                      <a:r>
                        <a:rPr lang="en-GB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ommit</a:t>
                      </a: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ID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300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580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1391870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Can I prepare in advance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21105"/>
            <a:ext cx="15155464" cy="6326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920" lvl="2" indent="-167640" algn="just">
              <a:lnSpc>
                <a:spcPts val="3520"/>
              </a:lnSpc>
              <a:buFont typeface="Arial"/>
              <a:buChar char="⚬"/>
            </a:pPr>
            <a:r>
              <a:rPr lang="en-US" sz="2200" b="1" dirty="0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Core data programming concepts &amp; Python </a:t>
            </a: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McKinney, W. Python for data analysis: data wrangling with Pandas, NumPy, and </a:t>
            </a:r>
            <a:r>
              <a:rPr lang="en-US" sz="2200" dirty="0" err="1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IPython</a:t>
            </a: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. (Sebastopol, CA: O'Reilly, 2017) 3rd edition </a:t>
            </a:r>
          </a:p>
          <a:p>
            <a:pPr marL="898738" lvl="3" indent="-224685" algn="just">
              <a:lnSpc>
                <a:spcPts val="3520"/>
              </a:lnSpc>
            </a:pPr>
            <a:endParaRPr lang="en-US" sz="2200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502920" lvl="2" indent="-167640" algn="just">
              <a:lnSpc>
                <a:spcPts val="3520"/>
              </a:lnSpc>
              <a:buFont typeface="Arial"/>
              <a:buChar char="⚬"/>
            </a:pPr>
            <a:r>
              <a:rPr lang="en-US" sz="2200" b="1" dirty="0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NLP</a:t>
            </a: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Hapke H, Howard C, Lane H. Natural Language Processing in Action: Understanding, analyzing, and generating text with Python. Simon and Schuster; 2019 Mar 16.</a:t>
            </a: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Sarkar D. Text Analytics with Python: A Practical Real-World Approach to Gaining Actionable Insights from your Data. </a:t>
            </a:r>
            <a:r>
              <a:rPr lang="en-US" sz="2200" dirty="0" err="1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Apress</a:t>
            </a: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; 2016 Nov 30.</a:t>
            </a: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Steven Bird, Ewan Klein, and Edward Loper. Natural Language Processing with Python</a:t>
            </a:r>
          </a:p>
          <a:p>
            <a:pPr marL="898738" lvl="3" indent="-224685" algn="just">
              <a:lnSpc>
                <a:spcPts val="3520"/>
              </a:lnSpc>
            </a:pPr>
            <a:endParaRPr lang="en-US" sz="2200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502920" lvl="2" indent="-167640" algn="just">
              <a:lnSpc>
                <a:spcPts val="3520"/>
              </a:lnSpc>
              <a:buFont typeface="Arial"/>
              <a:buChar char="⚬"/>
            </a:pPr>
            <a:r>
              <a:rPr lang="en-US" sz="2200" b="1" dirty="0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Data sourcing</a:t>
            </a:r>
          </a:p>
          <a:p>
            <a:pPr marL="898738" lvl="3" indent="-224685" algn="just">
              <a:lnSpc>
                <a:spcPts val="3520"/>
              </a:lnSpc>
              <a:buFont typeface="Arial"/>
              <a:buChar char="￭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Al Sweigart. Automate the Boring Stuff with Python: Practical Programming for Total Beginners (this seems to be an online book. Are we allowed to this?)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4A2FD-05C4-F8FB-50BE-AFB7FAF7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5BA464-D50E-A380-BCF1-99BAF65213CE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376DD55-68A4-1DDB-1FD4-455333E1DDF8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7DE6B7-3745-AC91-C3A0-BA54096D64F0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3B8EC83-2F56-0E60-D966-0BCC11E6B725}"/>
              </a:ext>
            </a:extLst>
          </p:cNvPr>
          <p:cNvSpPr txBox="1"/>
          <p:nvPr/>
        </p:nvSpPr>
        <p:spPr>
          <a:xfrm>
            <a:off x="1028700" y="475297"/>
            <a:ext cx="11391870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09688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1CF39-6B24-7BBC-4619-0C79E2CD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32D4DE-B7A9-4666-CEEB-C0627AA7B06E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BC311B3-871A-4FD7-9BC4-75ECB9214BB8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7ACD7E-77A5-AC4A-DC2C-AA0433ABE70B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A935E2F-DA9E-7D35-7B88-989B15F57008}"/>
              </a:ext>
            </a:extLst>
          </p:cNvPr>
          <p:cNvSpPr txBox="1"/>
          <p:nvPr/>
        </p:nvSpPr>
        <p:spPr>
          <a:xfrm>
            <a:off x="1028700" y="475297"/>
            <a:ext cx="11391870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The essential setup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C548C-2EAE-E657-9CE4-58B908EFD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156" y="1951879"/>
            <a:ext cx="14929455" cy="594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62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Activity: Installing necessary software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690657"/>
            <a:ext cx="14562906" cy="55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Linux users: Try MAC OSX instructions and if it does not work, contact 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6806" y="7491759"/>
            <a:ext cx="13373100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You will need Python, UV, VS-Code for labs next week!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B4F98210-24F1-F26B-D89F-18D7B29E093D}"/>
              </a:ext>
            </a:extLst>
          </p:cNvPr>
          <p:cNvSpPr txBox="1"/>
          <p:nvPr/>
        </p:nvSpPr>
        <p:spPr>
          <a:xfrm>
            <a:off x="381665" y="2178252"/>
            <a:ext cx="16611600" cy="4985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8738" lvl="3" indent="-224685" algn="just">
              <a:lnSpc>
                <a:spcPts val="3520"/>
              </a:lnSpc>
            </a:pPr>
            <a:r>
              <a:rPr lang="en-US" sz="2600" dirty="0">
                <a:solidFill>
                  <a:srgbClr val="2D2D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Essential setup  </a:t>
            </a:r>
          </a:p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US" sz="2600" dirty="0">
                <a:solidFill>
                  <a:srgbClr val="2D2D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Installing Python, VS code and UV  : </a:t>
            </a:r>
            <a:r>
              <a:rPr lang="en-US" sz="2800" u="sng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  <a:hlinkClick r:id="rId5" tooltip="https://learn.gold.ac.uk/mod/lti/view.php?id=17404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https://learn.gold.ac.uk/mod/url/view.php?id=1943169</a:t>
            </a:r>
          </a:p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US" sz="2600" dirty="0">
                <a:solidFill>
                  <a:srgbClr val="2D2D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Installing Git : </a:t>
            </a:r>
            <a:r>
              <a:rPr lang="en-US" sz="2800" u="sng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  <a:hlinkClick r:id="rId5" tooltip="https://learn.gold.ac.uk/mod/lti/view.php?id=17404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https://learn.gold.ac.uk/mod/url/view.php?id=1943173</a:t>
            </a: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US" sz="2600" dirty="0">
                <a:solidFill>
                  <a:srgbClr val="2D2D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UV documentation : </a:t>
            </a:r>
            <a:r>
              <a:rPr lang="en-US" sz="2800" u="sng" dirty="0">
                <a:solidFill>
                  <a:schemeClr val="accent1"/>
                </a:solidFill>
                <a:hlinkClick r:id="rId6"/>
              </a:rPr>
              <a:t>https://github.com/astral-sh/uv</a:t>
            </a:r>
            <a:endParaRPr lang="en-US" sz="2800" u="sng" dirty="0">
              <a:solidFill>
                <a:schemeClr val="accent1"/>
              </a:solidFill>
            </a:endParaRPr>
          </a:p>
          <a:p>
            <a:pPr marL="898738" lvl="3" indent="-224685" algn="just">
              <a:lnSpc>
                <a:spcPts val="3520"/>
              </a:lnSpc>
            </a:pPr>
            <a:endParaRPr lang="en-US" sz="2800" u="sng" dirty="0">
              <a:solidFill>
                <a:schemeClr val="accent1"/>
              </a:solidFill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GB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Python 3.14, 3.13, and 3.12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898738" lvl="3" indent="-224685" algn="just">
              <a:lnSpc>
                <a:spcPts val="3520"/>
              </a:lnSpc>
            </a:pPr>
            <a:endParaRPr lang="en-US" sz="2800" u="sng" dirty="0">
              <a:solidFill>
                <a:schemeClr val="accent1"/>
              </a:solidFill>
            </a:endParaRPr>
          </a:p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Debrief - Installing Python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8058" y="9402597"/>
            <a:ext cx="9368047" cy="42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5" tooltip="https://alpopkes.com/posts/python/packaging_tools/"/>
              </a:rPr>
              <a:t>https://alpopkes.com/posts/python/packaging_tools/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75A171-9F57-7D02-6E7B-F3343B65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21" y="1590971"/>
            <a:ext cx="10960079" cy="73067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8470" y="2112100"/>
            <a:ext cx="5835228" cy="4894297"/>
            <a:chOff x="0" y="0"/>
            <a:chExt cx="7780304" cy="65257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80274" cy="6525768"/>
            </a:xfrm>
            <a:custGeom>
              <a:avLst/>
              <a:gdLst/>
              <a:ahLst/>
              <a:cxnLst/>
              <a:rect l="l" t="t" r="r" b="b"/>
              <a:pathLst>
                <a:path w="7780274" h="6525768">
                  <a:moveTo>
                    <a:pt x="0" y="0"/>
                  </a:moveTo>
                  <a:lnTo>
                    <a:pt x="7780274" y="0"/>
                  </a:lnTo>
                  <a:lnTo>
                    <a:pt x="7780274" y="6525768"/>
                  </a:lnTo>
                  <a:lnTo>
                    <a:pt x="0" y="6525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9165" y="2464429"/>
            <a:ext cx="6519242" cy="4189639"/>
            <a:chOff x="0" y="0"/>
            <a:chExt cx="8692323" cy="55861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92261" cy="5586222"/>
            </a:xfrm>
            <a:custGeom>
              <a:avLst/>
              <a:gdLst/>
              <a:ahLst/>
              <a:cxnLst/>
              <a:rect l="l" t="t" r="r" b="b"/>
              <a:pathLst>
                <a:path w="8692261" h="5586222">
                  <a:moveTo>
                    <a:pt x="0" y="0"/>
                  </a:moveTo>
                  <a:lnTo>
                    <a:pt x="8692261" y="0"/>
                  </a:lnTo>
                  <a:lnTo>
                    <a:pt x="8692261" y="5586222"/>
                  </a:lnTo>
                  <a:lnTo>
                    <a:pt x="0" y="558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529" b="-75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Python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5695" y="7635316"/>
            <a:ext cx="6460778" cy="38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90% of data science professionals report using Python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150" y="9292776"/>
            <a:ext cx="11106450" cy="33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u="sng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hlinkClick r:id="rId7" tooltip="https://www.upgrad.com/blog/programming-languages-trends-data-scien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https://www.upgrad.com/blog/programming-languages-trends-data-science/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982" y="7638449"/>
            <a:ext cx="6460778" cy="38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Major health sectors adopt Python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B6FB3-B632-0100-8892-51FC00E3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1F8754-C9AC-37CD-A455-4C7130B00C59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322C3F-5F23-C0EC-75FD-3E75494E3ACF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C869E6-667D-62E8-593E-8405B259E373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6B67702-033D-799E-BA40-3D15FD95A97A}"/>
              </a:ext>
            </a:extLst>
          </p:cNvPr>
          <p:cNvSpPr txBox="1"/>
          <p:nvPr/>
        </p:nvSpPr>
        <p:spPr>
          <a:xfrm>
            <a:off x="381000" y="1250831"/>
            <a:ext cx="16611600" cy="5793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GB" sz="2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is an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interpreted, interactive, object-oriented programming language. </a:t>
            </a: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GB" sz="2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It supports multiple programming paradigms beyond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object-oriented programming, such as procedural and functional programming. </a:t>
            </a: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GB" sz="2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It has interfaces to many system calls and libraries, and is extensible in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 or C++. </a:t>
            </a: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98738" lvl="3" indent="-224685" algn="just">
              <a:lnSpc>
                <a:spcPts val="3520"/>
              </a:lnSpc>
            </a:pPr>
            <a:r>
              <a:rPr lang="en-GB" sz="2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It is portable and runs on many Unix variants including Linux and macOS, and on Windows.</a:t>
            </a:r>
          </a:p>
          <a:p>
            <a:pPr marL="898738" lvl="3" indent="-224685" algn="just">
              <a:lnSpc>
                <a:spcPts val="3520"/>
              </a:lnSpc>
            </a:pPr>
            <a:endParaRPr lang="en-GB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898738" lvl="3" indent="-224685" algn="just">
              <a:lnSpc>
                <a:spcPts val="3520"/>
              </a:lnSpc>
            </a:pPr>
            <a:endParaRPr lang="en-US" sz="2600" dirty="0">
              <a:solidFill>
                <a:srgbClr val="2D2D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3EC5EB-CDFF-CB98-7133-C083C51A816C}"/>
              </a:ext>
            </a:extLst>
          </p:cNvPr>
          <p:cNvSpPr txBox="1"/>
          <p:nvPr/>
        </p:nvSpPr>
        <p:spPr>
          <a:xfrm>
            <a:off x="1028700" y="475298"/>
            <a:ext cx="8093157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Python - 101</a:t>
            </a:r>
          </a:p>
        </p:txBody>
      </p:sp>
    </p:spTree>
    <p:extLst>
      <p:ext uri="{BB962C8B-B14F-4D97-AF65-F5344CB8AC3E}">
        <p14:creationId xmlns:p14="http://schemas.microsoft.com/office/powerpoint/2010/main" val="3742895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12518" y="3723933"/>
            <a:ext cx="7621426" cy="2800874"/>
            <a:chOff x="0" y="0"/>
            <a:chExt cx="10161902" cy="3734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1905" cy="3734562"/>
            </a:xfrm>
            <a:custGeom>
              <a:avLst/>
              <a:gdLst/>
              <a:ahLst/>
              <a:cxnLst/>
              <a:rect l="l" t="t" r="r" b="b"/>
              <a:pathLst>
                <a:path w="10161905" h="3734562">
                  <a:moveTo>
                    <a:pt x="0" y="0"/>
                  </a:moveTo>
                  <a:lnTo>
                    <a:pt x="10161905" y="0"/>
                  </a:lnTo>
                  <a:lnTo>
                    <a:pt x="10161905" y="3734562"/>
                  </a:lnTo>
                  <a:lnTo>
                    <a:pt x="0" y="3734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2" b="-1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687959" y="4701130"/>
            <a:ext cx="832882" cy="38100"/>
            <a:chOff x="0" y="0"/>
            <a:chExt cx="1110509" cy="50800"/>
          </a:xfrm>
        </p:grpSpPr>
        <p:sp>
          <p:nvSpPr>
            <p:cNvPr id="8" name="Freeform 8"/>
            <p:cNvSpPr/>
            <p:nvPr/>
          </p:nvSpPr>
          <p:spPr>
            <a:xfrm>
              <a:off x="33909" y="0"/>
              <a:ext cx="1059688" cy="67691"/>
            </a:xfrm>
            <a:custGeom>
              <a:avLst/>
              <a:gdLst/>
              <a:ahLst/>
              <a:cxnLst/>
              <a:rect l="l" t="t" r="r" b="b"/>
              <a:pathLst>
                <a:path w="1059688" h="67691">
                  <a:moveTo>
                    <a:pt x="0" y="0"/>
                  </a:moveTo>
                  <a:lnTo>
                    <a:pt x="1059688" y="0"/>
                  </a:lnTo>
                  <a:lnTo>
                    <a:pt x="105968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DA2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68441" y="5143420"/>
            <a:ext cx="832882" cy="38100"/>
            <a:chOff x="0" y="0"/>
            <a:chExt cx="1110509" cy="50800"/>
          </a:xfrm>
        </p:grpSpPr>
        <p:sp>
          <p:nvSpPr>
            <p:cNvPr id="10" name="Freeform 10"/>
            <p:cNvSpPr/>
            <p:nvPr/>
          </p:nvSpPr>
          <p:spPr>
            <a:xfrm>
              <a:off x="33909" y="0"/>
              <a:ext cx="1059688" cy="67691"/>
            </a:xfrm>
            <a:custGeom>
              <a:avLst/>
              <a:gdLst/>
              <a:ahLst/>
              <a:cxnLst/>
              <a:rect l="l" t="t" r="r" b="b"/>
              <a:pathLst>
                <a:path w="1059688" h="67691">
                  <a:moveTo>
                    <a:pt x="0" y="0"/>
                  </a:moveTo>
                  <a:lnTo>
                    <a:pt x="1059688" y="0"/>
                  </a:lnTo>
                  <a:lnTo>
                    <a:pt x="105968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DA2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46311" y="4103252"/>
            <a:ext cx="832882" cy="38100"/>
            <a:chOff x="0" y="0"/>
            <a:chExt cx="1110509" cy="50800"/>
          </a:xfrm>
        </p:grpSpPr>
        <p:sp>
          <p:nvSpPr>
            <p:cNvPr id="12" name="Freeform 12"/>
            <p:cNvSpPr/>
            <p:nvPr/>
          </p:nvSpPr>
          <p:spPr>
            <a:xfrm>
              <a:off x="33909" y="0"/>
              <a:ext cx="1059688" cy="67691"/>
            </a:xfrm>
            <a:custGeom>
              <a:avLst/>
              <a:gdLst/>
              <a:ahLst/>
              <a:cxnLst/>
              <a:rect l="l" t="t" r="r" b="b"/>
              <a:pathLst>
                <a:path w="1059688" h="67691">
                  <a:moveTo>
                    <a:pt x="0" y="0"/>
                  </a:moveTo>
                  <a:lnTo>
                    <a:pt x="1059688" y="0"/>
                  </a:lnTo>
                  <a:lnTo>
                    <a:pt x="105968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DA2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26059" y="5781595"/>
            <a:ext cx="832882" cy="38100"/>
            <a:chOff x="0" y="0"/>
            <a:chExt cx="1110509" cy="50800"/>
          </a:xfrm>
        </p:grpSpPr>
        <p:sp>
          <p:nvSpPr>
            <p:cNvPr id="14" name="Freeform 14"/>
            <p:cNvSpPr/>
            <p:nvPr/>
          </p:nvSpPr>
          <p:spPr>
            <a:xfrm>
              <a:off x="33909" y="0"/>
              <a:ext cx="1059688" cy="67691"/>
            </a:xfrm>
            <a:custGeom>
              <a:avLst/>
              <a:gdLst/>
              <a:ahLst/>
              <a:cxnLst/>
              <a:rect l="l" t="t" r="r" b="b"/>
              <a:pathLst>
                <a:path w="1059688" h="67691">
                  <a:moveTo>
                    <a:pt x="0" y="0"/>
                  </a:moveTo>
                  <a:lnTo>
                    <a:pt x="1059688" y="0"/>
                  </a:lnTo>
                  <a:lnTo>
                    <a:pt x="105968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DA23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135323" y="3723933"/>
            <a:ext cx="4934117" cy="2839135"/>
            <a:chOff x="0" y="0"/>
            <a:chExt cx="6578823" cy="3785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78854" cy="3785489"/>
            </a:xfrm>
            <a:custGeom>
              <a:avLst/>
              <a:gdLst/>
              <a:ahLst/>
              <a:cxnLst/>
              <a:rect l="l" t="t" r="r" b="b"/>
              <a:pathLst>
                <a:path w="6578854" h="3785489">
                  <a:moveTo>
                    <a:pt x="0" y="0"/>
                  </a:moveTo>
                  <a:lnTo>
                    <a:pt x="6578854" y="0"/>
                  </a:lnTo>
                  <a:lnTo>
                    <a:pt x="6578854" y="3785489"/>
                  </a:lnTo>
                  <a:lnTo>
                    <a:pt x="0" y="37854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35323" y="3506942"/>
            <a:ext cx="4934117" cy="3056126"/>
            <a:chOff x="0" y="0"/>
            <a:chExt cx="6578823" cy="40748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78822" cy="4074835"/>
            </a:xfrm>
            <a:custGeom>
              <a:avLst/>
              <a:gdLst/>
              <a:ahLst/>
              <a:cxnLst/>
              <a:rect l="l" t="t" r="r" b="b"/>
              <a:pathLst>
                <a:path w="6578822" h="4074835">
                  <a:moveTo>
                    <a:pt x="0" y="0"/>
                  </a:moveTo>
                  <a:lnTo>
                    <a:pt x="6578822" y="0"/>
                  </a:lnTo>
                  <a:lnTo>
                    <a:pt x="6578822" y="4074835"/>
                  </a:lnTo>
                  <a:lnTo>
                    <a:pt x="0" y="4074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578823" cy="4160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function is_even( a )</a:t>
              </a:r>
              <a:r>
                <a:rPr lang="en-US" sz="27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{</a:t>
              </a:r>
            </a:p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   if (a % 2 == 0)</a:t>
              </a:r>
              <a:r>
                <a:rPr lang="en-US" sz="27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{ </a:t>
              </a:r>
            </a:p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          </a:t>
              </a:r>
            </a:p>
            <a:p>
              <a:pPr algn="l">
                <a:lnSpc>
                  <a:spcPts val="419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   </a:t>
              </a:r>
              <a:r>
                <a:rPr lang="en-US" sz="27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} </a:t>
              </a:r>
            </a:p>
            <a:p>
              <a:pPr algn="l">
                <a:lnSpc>
                  <a:spcPts val="4619"/>
                </a:lnSpc>
              </a:pPr>
              <a:r>
                <a:rPr lang="en-US" sz="27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}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1609480"/>
            <a:ext cx="15155464" cy="702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2021" lvl="3" indent="-265505" algn="just">
              <a:lnSpc>
                <a:spcPts val="4159"/>
              </a:lnSpc>
              <a:buFont typeface="Arial"/>
              <a:buChar char="￭"/>
            </a:pPr>
            <a:r>
              <a:rPr lang="en-US" sz="2599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High-level, general-purpose</a:t>
            </a:r>
            <a:r>
              <a:rPr lang="en-US" sz="2599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 programming language. </a:t>
            </a:r>
          </a:p>
          <a:p>
            <a:pPr marL="898979" lvl="3" indent="-224745" algn="just">
              <a:lnSpc>
                <a:spcPts val="3999"/>
              </a:lnSpc>
            </a:pPr>
            <a:endParaRPr lang="en-US" sz="25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1102872" lvl="3" indent="-275718" algn="just">
              <a:lnSpc>
                <a:spcPts val="4319"/>
              </a:lnSpc>
              <a:buFont typeface="Arial"/>
              <a:buChar char="￭"/>
            </a:pPr>
            <a:r>
              <a:rPr lang="en-US" sz="2699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Significant </a:t>
            </a:r>
            <a:r>
              <a:rPr lang="en-US" sz="2699" b="1" dirty="0" err="1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indendation</a:t>
            </a:r>
            <a:r>
              <a:rPr lang="en-US" sz="2699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 or offside rule</a:t>
            </a: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898970" lvl="3" indent="-224742" algn="just">
              <a:lnSpc>
                <a:spcPts val="3520"/>
              </a:lnSpc>
            </a:pPr>
            <a:endParaRPr lang="en-US" sz="2699" dirty="0">
              <a:solidFill>
                <a:srgbClr val="2D2D2D"/>
              </a:solidFill>
              <a:latin typeface="Lato"/>
              <a:ea typeface="Lato"/>
              <a:cs typeface="Lato"/>
              <a:sym typeface="Lato"/>
            </a:endParaRPr>
          </a:p>
          <a:p>
            <a:pPr marL="1102872" lvl="3" indent="-275718" algn="just">
              <a:lnSpc>
                <a:spcPts val="4319"/>
              </a:lnSpc>
              <a:buFont typeface="Arial"/>
              <a:buChar char="￭"/>
            </a:pPr>
            <a:r>
              <a:rPr lang="en-US" sz="2699" b="1" dirty="0">
                <a:solidFill>
                  <a:srgbClr val="2D2D2D"/>
                </a:solidFill>
                <a:latin typeface="Lato Bold"/>
                <a:ea typeface="Lato Bold"/>
                <a:cs typeface="Lato Bold"/>
                <a:sym typeface="Lato Bold"/>
              </a:rPr>
              <a:t>Dynamic typing</a:t>
            </a:r>
          </a:p>
          <a:p>
            <a:pPr marL="1334137" lvl="4" indent="-266827" algn="just">
              <a:lnSpc>
                <a:spcPts val="3520"/>
              </a:lnSpc>
              <a:buFont typeface="Arial"/>
              <a:buChar char="•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Static typing : Int a = 5 </a:t>
            </a:r>
          </a:p>
          <a:p>
            <a:pPr marL="1334137" lvl="4" indent="-266827" algn="just">
              <a:lnSpc>
                <a:spcPts val="3520"/>
              </a:lnSpc>
              <a:buFont typeface="Arial"/>
              <a:buChar char="•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Dynamic typing : a = 5</a:t>
            </a:r>
          </a:p>
          <a:p>
            <a:pPr marL="1334137" lvl="4" indent="-266827" algn="just">
              <a:lnSpc>
                <a:spcPts val="3520"/>
              </a:lnSpc>
              <a:buFont typeface="Arial"/>
              <a:buChar char="•"/>
            </a:pPr>
            <a:r>
              <a:rPr lang="en-US" sz="2200" dirty="0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Duck typing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Python -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75650" y="4282782"/>
            <a:ext cx="2551152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Indent token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06556" y="5316903"/>
            <a:ext cx="2551152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Dedunt token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Let's explore python</a:t>
            </a:r>
          </a:p>
        </p:txBody>
      </p:sp>
      <p:sp>
        <p:nvSpPr>
          <p:cNvPr id="6" name="Freeform 6"/>
          <p:cNvSpPr/>
          <p:nvPr/>
        </p:nvSpPr>
        <p:spPr>
          <a:xfrm>
            <a:off x="1248614" y="1780763"/>
            <a:ext cx="11963488" cy="5320930"/>
          </a:xfrm>
          <a:custGeom>
            <a:avLst/>
            <a:gdLst/>
            <a:ahLst/>
            <a:cxnLst/>
            <a:rect l="l" t="t" r="r" b="b"/>
            <a:pathLst>
              <a:path w="11963488" h="5320930">
                <a:moveTo>
                  <a:pt x="0" y="0"/>
                </a:moveTo>
                <a:lnTo>
                  <a:pt x="11963488" y="0"/>
                </a:lnTo>
                <a:lnTo>
                  <a:pt x="11963488" y="5320930"/>
                </a:lnTo>
                <a:lnTo>
                  <a:pt x="0" y="532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91963" y="2217218"/>
            <a:ext cx="14477255" cy="451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Fire up your terminal. Type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python -- version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python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Python 3.11.5 (main, Sep 11 2023, 08:31:25) [Clang 14.0.6 ] on darwin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2F2F2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Try out all the basic mathematical (addition/subtraction etc) operations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5+10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Activity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09800" y="2705100"/>
            <a:ext cx="12344400" cy="4053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Go to Visual Studio code and open the notebook</a:t>
            </a:r>
          </a:p>
          <a:p>
            <a:pPr algn="ctr">
              <a:lnSpc>
                <a:spcPts val="3998"/>
              </a:lnSpc>
            </a:pPr>
            <a:endParaRPr lang="en-US" sz="2854" b="1" dirty="0">
              <a:solidFill>
                <a:srgbClr val="F4991A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998"/>
              </a:lnSpc>
            </a:pPr>
            <a:r>
              <a:rPr lang="en-US" sz="2500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Variables and </a:t>
            </a:r>
            <a:r>
              <a:rPr lang="en-US" sz="2500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strings.ipynb</a:t>
            </a:r>
            <a:endParaRPr lang="en-US" sz="2854" b="1" dirty="0">
              <a:solidFill>
                <a:srgbClr val="F4991A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998"/>
              </a:lnSpc>
            </a:pPr>
            <a:endParaRPr lang="en-US" sz="2854" b="1" dirty="0">
              <a:solidFill>
                <a:srgbClr val="F4991A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998"/>
              </a:lnSpc>
            </a:pP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Install </a:t>
            </a:r>
            <a:r>
              <a:rPr lang="en-US" sz="2854" b="1" dirty="0" err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Ipython</a:t>
            </a: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 and </a:t>
            </a:r>
            <a:r>
              <a:rPr lang="en-US" sz="2854" b="1" dirty="0" err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Jupyter</a:t>
            </a: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  as prompted by Visual studio Code</a:t>
            </a:r>
          </a:p>
          <a:p>
            <a:pPr algn="ctr">
              <a:lnSpc>
                <a:spcPts val="3998"/>
              </a:lnSpc>
            </a:pPr>
            <a:endParaRPr lang="en-US" sz="2854" b="1" dirty="0">
              <a:solidFill>
                <a:srgbClr val="F4991A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998"/>
              </a:lnSpc>
            </a:pPr>
            <a:r>
              <a:rPr lang="en-US" sz="2854" b="1" dirty="0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Follow the instructions in the notebook</a:t>
            </a:r>
          </a:p>
          <a:p>
            <a:pPr algn="ctr">
              <a:lnSpc>
                <a:spcPts val="3998"/>
              </a:lnSpc>
            </a:pPr>
            <a:endParaRPr lang="en-US" sz="2854" b="1" dirty="0">
              <a:solidFill>
                <a:srgbClr val="F4991A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D6968-5320-C781-BC13-D2AD5A63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3CDA6F-EF44-6ED1-B074-7780B6DB2B67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125468A-D600-F63D-952E-7CD3DBE29F13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533145-A794-CAC8-B72E-F92BE37899D5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0DA2B53-B664-1CC9-9CDE-2F9F0D54CD4C}"/>
              </a:ext>
            </a:extLst>
          </p:cNvPr>
          <p:cNvSpPr txBox="1"/>
          <p:nvPr/>
        </p:nvSpPr>
        <p:spPr>
          <a:xfrm>
            <a:off x="1028700" y="475297"/>
            <a:ext cx="13029008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Try and reflect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D58BD7-3E71-4B9E-EEEC-663C2ABC2992}"/>
              </a:ext>
            </a:extLst>
          </p:cNvPr>
          <p:cNvSpPr txBox="1"/>
          <p:nvPr/>
        </p:nvSpPr>
        <p:spPr>
          <a:xfrm>
            <a:off x="1692993" y="3736957"/>
            <a:ext cx="15429756" cy="279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Python has specific rules for which data types can be combined.</a:t>
            </a:r>
          </a:p>
          <a:p>
            <a:pPr algn="ctr">
              <a:lnSpc>
                <a:spcPts val="3639"/>
              </a:lnSpc>
            </a:pPr>
            <a:r>
              <a:rPr lang="en-US" sz="25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Try to explorative as possible and use arithmetic operations to combine different types of data. </a:t>
            </a:r>
          </a:p>
          <a:p>
            <a:pPr algn="ctr">
              <a:lnSpc>
                <a:spcPts val="3639"/>
              </a:lnSpc>
            </a:pPr>
            <a:endParaRPr lang="en-US" sz="25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ctr">
              <a:lnSpc>
                <a:spcPts val="3639"/>
              </a:lnSpc>
            </a:pPr>
            <a:r>
              <a:rPr lang="en-US" sz="25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E.g., add an integer to a float and find resultant type</a:t>
            </a:r>
          </a:p>
          <a:p>
            <a:pPr algn="ctr">
              <a:lnSpc>
                <a:spcPts val="3639"/>
              </a:lnSpc>
            </a:pPr>
            <a:r>
              <a:rPr lang="en-US" sz="25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E.g., add an integer to a string and find resultant type</a:t>
            </a:r>
          </a:p>
          <a:p>
            <a:pPr algn="ctr">
              <a:lnSpc>
                <a:spcPts val="3639"/>
              </a:lnSpc>
            </a:pPr>
            <a:endParaRPr lang="en-US" sz="25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5C9582E-0D09-8C87-31EE-34DAC853143D}"/>
              </a:ext>
            </a:extLst>
          </p:cNvPr>
          <p:cNvSpPr txBox="1"/>
          <p:nvPr/>
        </p:nvSpPr>
        <p:spPr>
          <a:xfrm>
            <a:off x="4546997" y="2669114"/>
            <a:ext cx="9194006" cy="52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2854" b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Combine two data types and find the resultant data type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6EDF476-9CD1-203E-4A92-4EA500EA5BCE}"/>
              </a:ext>
            </a:extLst>
          </p:cNvPr>
          <p:cNvSpPr txBox="1"/>
          <p:nvPr/>
        </p:nvSpPr>
        <p:spPr>
          <a:xfrm>
            <a:off x="2145695" y="7071342"/>
            <a:ext cx="13996610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 b="1">
                <a:solidFill>
                  <a:srgbClr val="F4991A"/>
                </a:solidFill>
                <a:latin typeface="Lato Bold"/>
                <a:ea typeface="Lato Bold"/>
                <a:cs typeface="Lato Bold"/>
                <a:sym typeface="Lato Bold"/>
              </a:rPr>
              <a:t>What do you infer about the rules for combining variables in Python? </a:t>
            </a:r>
          </a:p>
        </p:txBody>
      </p:sp>
    </p:spTree>
    <p:extLst>
      <p:ext uri="{BB962C8B-B14F-4D97-AF65-F5344CB8AC3E}">
        <p14:creationId xmlns:p14="http://schemas.microsoft.com/office/powerpoint/2010/main" val="575701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248614" y="1655302"/>
            <a:ext cx="6294590" cy="5345365"/>
          </a:xfrm>
          <a:custGeom>
            <a:avLst/>
            <a:gdLst/>
            <a:ahLst/>
            <a:cxnLst/>
            <a:rect l="l" t="t" r="r" b="b"/>
            <a:pathLst>
              <a:path w="6294590" h="5345365">
                <a:moveTo>
                  <a:pt x="0" y="0"/>
                </a:moveTo>
                <a:lnTo>
                  <a:pt x="6294590" y="0"/>
                </a:lnTo>
                <a:lnTo>
                  <a:pt x="6294590" y="5345365"/>
                </a:lnTo>
                <a:lnTo>
                  <a:pt x="0" y="53453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Let's create a variable and know its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691" y="1983152"/>
            <a:ext cx="5438437" cy="485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5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print(a) // similar to console log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&gt;&gt;&gt; a = 5.0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&gt;&gt;&gt; type(a)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True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type(a)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"Hello world"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type(a)</a:t>
            </a:r>
          </a:p>
        </p:txBody>
      </p:sp>
      <p:sp>
        <p:nvSpPr>
          <p:cNvPr id="8" name="Freeform 8"/>
          <p:cNvSpPr/>
          <p:nvPr/>
        </p:nvSpPr>
        <p:spPr>
          <a:xfrm>
            <a:off x="8188127" y="1588362"/>
            <a:ext cx="7490132" cy="5412305"/>
          </a:xfrm>
          <a:custGeom>
            <a:avLst/>
            <a:gdLst/>
            <a:ahLst/>
            <a:cxnLst/>
            <a:rect l="l" t="t" r="r" b="b"/>
            <a:pathLst>
              <a:path w="7490132" h="5412305">
                <a:moveTo>
                  <a:pt x="0" y="0"/>
                </a:moveTo>
                <a:lnTo>
                  <a:pt x="7490132" y="0"/>
                </a:lnTo>
                <a:lnTo>
                  <a:pt x="7490132" y="5412305"/>
                </a:lnTo>
                <a:lnTo>
                  <a:pt x="0" y="5412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460607" y="1423054"/>
            <a:ext cx="6620284" cy="530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endParaRPr/>
          </a:p>
          <a:p>
            <a:pPr algn="l">
              <a:lnSpc>
                <a:spcPts val="3500"/>
              </a:lnSpc>
            </a:pPr>
            <a:endParaRPr/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{"name": "prashanth"}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type(a)</a:t>
            </a:r>
          </a:p>
          <a:p>
            <a:pPr algn="l">
              <a:lnSpc>
                <a:spcPts val="3500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[1,2,3,4]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type(a)</a:t>
            </a:r>
          </a:p>
          <a:p>
            <a:pPr algn="l">
              <a:lnSpc>
                <a:spcPts val="3500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a = (1,2,3,4)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&gt;&gt; type(a)</a:t>
            </a:r>
          </a:p>
          <a:p>
            <a:pPr algn="l">
              <a:lnSpc>
                <a:spcPts val="3500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500"/>
              </a:lnSpc>
            </a:pPr>
            <a:endParaRPr lang="en-US" sz="24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89710" y="7705516"/>
            <a:ext cx="9341793" cy="59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 dirty="0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Basic types: int, float, string, </a:t>
            </a:r>
            <a:r>
              <a:rPr lang="en-US" sz="3099" b="1" dirty="0" err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boolean</a:t>
            </a:r>
            <a:r>
              <a:rPr lang="en-US" sz="3099" b="1" dirty="0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, dictionary, lists.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Guess the output types?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6691" y="1983152"/>
            <a:ext cx="3090873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a = 5.0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b = 6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c = a+b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691" y="6886879"/>
            <a:ext cx="3090873" cy="136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a = "hello"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b = 6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c = a + str(b)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6691" y="5226970"/>
            <a:ext cx="3090873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a = "hello"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b = 6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c = a+b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76691" y="3604545"/>
            <a:ext cx="2719219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a = 5.0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b = 6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Lato"/>
                <a:ea typeface="Lato"/>
                <a:cs typeface="Lato"/>
                <a:sym typeface="Lato"/>
              </a:rPr>
              <a:t>&gt;&gt;&gt; c = int(a)+b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831" y="2421302"/>
            <a:ext cx="259556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1.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831" y="4042695"/>
            <a:ext cx="259556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831" y="5657062"/>
            <a:ext cx="259556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156753"/>
            <a:ext cx="259556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54202" y="2349196"/>
            <a:ext cx="3389798" cy="4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What is the type of c?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54202" y="4060567"/>
            <a:ext cx="3237398" cy="4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What is the type of c?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54202" y="5797853"/>
            <a:ext cx="3237398" cy="4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What is the type of c?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16102" y="7437635"/>
            <a:ext cx="3275498" cy="4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What is the type of c?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248614" y="1655302"/>
            <a:ext cx="6294590" cy="5860883"/>
          </a:xfrm>
          <a:custGeom>
            <a:avLst/>
            <a:gdLst/>
            <a:ahLst/>
            <a:cxnLst/>
            <a:rect l="l" t="t" r="r" b="b"/>
            <a:pathLst>
              <a:path w="6294590" h="5860883">
                <a:moveTo>
                  <a:pt x="0" y="0"/>
                </a:moveTo>
                <a:lnTo>
                  <a:pt x="6294590" y="0"/>
                </a:lnTo>
                <a:lnTo>
                  <a:pt x="6294590" y="5860883"/>
                </a:lnTo>
                <a:lnTo>
                  <a:pt x="0" y="5860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8188127" y="1588362"/>
            <a:ext cx="7648184" cy="5927823"/>
          </a:xfrm>
          <a:custGeom>
            <a:avLst/>
            <a:gdLst/>
            <a:ahLst/>
            <a:cxnLst/>
            <a:rect l="l" t="t" r="r" b="b"/>
            <a:pathLst>
              <a:path w="7648184" h="5927823">
                <a:moveTo>
                  <a:pt x="0" y="0"/>
                </a:moveTo>
                <a:lnTo>
                  <a:pt x="7648184" y="0"/>
                </a:lnTo>
                <a:lnTo>
                  <a:pt x="7648184" y="5927823"/>
                </a:lnTo>
                <a:lnTo>
                  <a:pt x="0" y="5927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Let’s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6691" y="2607511"/>
            <a:ext cx="5438437" cy="397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a = 5.0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b = “50”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c = </a:t>
            </a:r>
            <a:r>
              <a:rPr lang="en-US" sz="2499" dirty="0" err="1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a+b</a:t>
            </a:r>
            <a:endParaRPr lang="en-US" sz="249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What should I change to not get an error?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type(c)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19271" y="2619877"/>
            <a:ext cx="6831227" cy="266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lines = 50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print(“I typed” + lines + “ of code ”)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What should I change to not get an error?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74671"/>
            <a:ext cx="14052190" cy="303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Basic operations - String concatenation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9CC48C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639958" lvl="2" indent="-213319" algn="l">
              <a:lnSpc>
                <a:spcPts val="3919"/>
              </a:lnSpc>
              <a:buFont typeface="Arial"/>
              <a:buChar char="⚬"/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“+” operation: concatenates strings with numbers and variables</a:t>
            </a:r>
          </a:p>
          <a:p>
            <a:pPr marL="639958" lvl="2" indent="-213319"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639958" lvl="2" indent="-213319"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639958" lvl="2" indent="-213319" algn="l">
              <a:lnSpc>
                <a:spcPts val="3919"/>
              </a:lnSpc>
              <a:buFont typeface="Arial"/>
              <a:buChar char="⚬"/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“*” operation: concatenates strings with itself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248614" y="1655302"/>
            <a:ext cx="6294590" cy="5860883"/>
          </a:xfrm>
          <a:custGeom>
            <a:avLst/>
            <a:gdLst/>
            <a:ahLst/>
            <a:cxnLst/>
            <a:rect l="l" t="t" r="r" b="b"/>
            <a:pathLst>
              <a:path w="6294590" h="5860883">
                <a:moveTo>
                  <a:pt x="0" y="0"/>
                </a:moveTo>
                <a:lnTo>
                  <a:pt x="6294590" y="0"/>
                </a:lnTo>
                <a:lnTo>
                  <a:pt x="6294590" y="5860883"/>
                </a:lnTo>
                <a:lnTo>
                  <a:pt x="0" y="5860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188127" y="1588362"/>
            <a:ext cx="6683780" cy="5827698"/>
          </a:xfrm>
          <a:custGeom>
            <a:avLst/>
            <a:gdLst/>
            <a:ahLst/>
            <a:cxnLst/>
            <a:rect l="l" t="t" r="r" b="b"/>
            <a:pathLst>
              <a:path w="6683780" h="5827698">
                <a:moveTo>
                  <a:pt x="0" y="0"/>
                </a:moveTo>
                <a:lnTo>
                  <a:pt x="6683780" y="0"/>
                </a:lnTo>
                <a:lnTo>
                  <a:pt x="6683780" y="5827698"/>
                </a:lnTo>
                <a:lnTo>
                  <a:pt x="0" y="5827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Applying arithmetic concepts to form patterns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6691" y="2439937"/>
            <a:ext cx="5438437" cy="178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print("*")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print("*" * 5)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*******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08574" y="4976762"/>
            <a:ext cx="5080884" cy="224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print("*" * 4);\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print("**" * 3);\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print("*" * 2);\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print("*" * 1);\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08574" y="2201812"/>
            <a:ext cx="5003100" cy="267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Let's say we want to do something like a reducing pattern,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****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***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</a:t>
            </a:r>
          </a:p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6691" y="4580906"/>
            <a:ext cx="5438437" cy="178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print("hello")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*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print("hello" * 3)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hellohellohello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0" y="2587993"/>
            <a:ext cx="2717116" cy="2529902"/>
          </a:xfrm>
          <a:custGeom>
            <a:avLst/>
            <a:gdLst/>
            <a:ahLst/>
            <a:cxnLst/>
            <a:rect l="l" t="t" r="r" b="b"/>
            <a:pathLst>
              <a:path w="2717116" h="2529902">
                <a:moveTo>
                  <a:pt x="0" y="0"/>
                </a:moveTo>
                <a:lnTo>
                  <a:pt x="2717116" y="0"/>
                </a:lnTo>
                <a:lnTo>
                  <a:pt x="2717116" y="2529902"/>
                </a:lnTo>
                <a:lnTo>
                  <a:pt x="0" y="252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68828" y="2681821"/>
            <a:ext cx="2627817" cy="2461679"/>
          </a:xfrm>
          <a:custGeom>
            <a:avLst/>
            <a:gdLst/>
            <a:ahLst/>
            <a:cxnLst/>
            <a:rect l="l" t="t" r="r" b="b"/>
            <a:pathLst>
              <a:path w="2627817" h="2461679">
                <a:moveTo>
                  <a:pt x="0" y="0"/>
                </a:moveTo>
                <a:lnTo>
                  <a:pt x="2627817" y="0"/>
                </a:lnTo>
                <a:lnTo>
                  <a:pt x="2627817" y="2461679"/>
                </a:lnTo>
                <a:lnTo>
                  <a:pt x="0" y="24616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With prints, can you do an alphabet?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1802" y="3245075"/>
            <a:ext cx="786513" cy="116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FFFFFFF</a:t>
            </a:r>
          </a:p>
          <a:p>
            <a:pPr algn="l">
              <a:lnSpc>
                <a:spcPts val="1509"/>
              </a:lnSpc>
            </a:pPr>
            <a:r>
              <a:rPr lang="en-US" sz="107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FF     </a:t>
            </a:r>
          </a:p>
          <a:p>
            <a:pPr algn="l">
              <a:lnSpc>
                <a:spcPts val="1509"/>
              </a:lnSpc>
            </a:pPr>
            <a:r>
              <a:rPr lang="en-US" sz="107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FFFFFFF</a:t>
            </a:r>
          </a:p>
          <a:p>
            <a:pPr algn="l">
              <a:lnSpc>
                <a:spcPts val="1509"/>
              </a:lnSpc>
            </a:pPr>
            <a:r>
              <a:rPr lang="en-US" sz="107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FF     </a:t>
            </a:r>
          </a:p>
          <a:p>
            <a:pPr algn="l">
              <a:lnSpc>
                <a:spcPts val="1509"/>
              </a:lnSpc>
            </a:pPr>
            <a:r>
              <a:rPr lang="en-US" sz="107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FF</a:t>
            </a:r>
          </a:p>
          <a:p>
            <a:pPr algn="l">
              <a:lnSpc>
                <a:spcPts val="1509"/>
              </a:lnSpc>
            </a:pPr>
            <a:endParaRPr lang="en-US" sz="107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64916" y="3090888"/>
            <a:ext cx="1478068" cy="168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CCCCCCCCC</a:t>
            </a:r>
          </a:p>
          <a:p>
            <a:pPr algn="l">
              <a:lnSpc>
                <a:spcPts val="629"/>
              </a:lnSpc>
            </a:pPr>
            <a:r>
              <a:rPr lang="en-US" sz="44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CCCCCCCCCC</a:t>
            </a:r>
          </a:p>
          <a:p>
            <a:pPr algn="l">
              <a:lnSpc>
                <a:spcPts val="629"/>
              </a:lnSpc>
            </a:pPr>
            <a:endParaRPr lang="en-US" sz="44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Some more ways of concatenating strings</a:t>
            </a:r>
          </a:p>
        </p:txBody>
      </p:sp>
      <p:sp>
        <p:nvSpPr>
          <p:cNvPr id="6" name="Freeform 6"/>
          <p:cNvSpPr/>
          <p:nvPr/>
        </p:nvSpPr>
        <p:spPr>
          <a:xfrm>
            <a:off x="1322881" y="1976036"/>
            <a:ext cx="7064599" cy="6154102"/>
          </a:xfrm>
          <a:custGeom>
            <a:avLst/>
            <a:gdLst/>
            <a:ahLst/>
            <a:cxnLst/>
            <a:rect l="l" t="t" r="r" b="b"/>
            <a:pathLst>
              <a:path w="7064599" h="6154102">
                <a:moveTo>
                  <a:pt x="0" y="0"/>
                </a:moveTo>
                <a:lnTo>
                  <a:pt x="7064599" y="0"/>
                </a:lnTo>
                <a:lnTo>
                  <a:pt x="7064599" y="6154102"/>
                </a:lnTo>
                <a:lnTo>
                  <a:pt x="0" y="6154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99703" y="3751787"/>
            <a:ext cx="5438437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s1 = "hello"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s2 = "world"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(s1+s2)*3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'helloworldhelloworldhelloworld'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577160" y="2147080"/>
            <a:ext cx="6907451" cy="6154102"/>
          </a:xfrm>
          <a:custGeom>
            <a:avLst/>
            <a:gdLst/>
            <a:ahLst/>
            <a:cxnLst/>
            <a:rect l="l" t="t" r="r" b="b"/>
            <a:pathLst>
              <a:path w="6907451" h="6154102">
                <a:moveTo>
                  <a:pt x="0" y="0"/>
                </a:moveTo>
                <a:lnTo>
                  <a:pt x="6907451" y="0"/>
                </a:lnTo>
                <a:lnTo>
                  <a:pt x="6907451" y="6154102"/>
                </a:lnTo>
                <a:lnTo>
                  <a:pt x="0" y="6154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183262" y="3094562"/>
            <a:ext cx="5438437" cy="353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s3 = ("This"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" is another way 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"to concatenate "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... "strings.")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s3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'This is another way to concatenate strings.'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Essential string operations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322881" y="1976036"/>
            <a:ext cx="7064599" cy="6154102"/>
          </a:xfrm>
          <a:custGeom>
            <a:avLst/>
            <a:gdLst/>
            <a:ahLst/>
            <a:cxnLst/>
            <a:rect l="l" t="t" r="r" b="b"/>
            <a:pathLst>
              <a:path w="7064599" h="6154102">
                <a:moveTo>
                  <a:pt x="0" y="0"/>
                </a:moveTo>
                <a:lnTo>
                  <a:pt x="7064599" y="0"/>
                </a:lnTo>
                <a:lnTo>
                  <a:pt x="7064599" y="6154102"/>
                </a:lnTo>
                <a:lnTo>
                  <a:pt x="0" y="6154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75268" y="2546350"/>
            <a:ext cx="5438437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s3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'This is another way to concatenate strings.'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len(s3)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43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5268" y="5394716"/>
            <a:ext cx="5438437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"way" in s3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&gt;&gt;&gt; "hello" in s3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9F5F0"/>
                </a:solidFill>
                <a:latin typeface="Lato"/>
                <a:ea typeface="Lato"/>
                <a:cs typeface="Lato"/>
                <a:sym typeface="Lato"/>
              </a:rPr>
              <a:t>False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9F5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87056" y="3235325"/>
            <a:ext cx="35084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Finding length of a string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7056" y="5888212"/>
            <a:ext cx="7872244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Finding a substring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B89C5-32A6-A50C-8439-AFDDAE05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F5FE14-7292-50F4-BA29-C48E78523EFC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CB0638-07B3-EEA2-7717-B213956EFABF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5ADB420-8370-756C-E4D7-28B3B0E3B83B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304F42A0-6D01-9703-F9FC-071E550326EA}"/>
              </a:ext>
            </a:extLst>
          </p:cNvPr>
          <p:cNvSpPr txBox="1"/>
          <p:nvPr/>
        </p:nvSpPr>
        <p:spPr>
          <a:xfrm>
            <a:off x="1028700" y="475297"/>
            <a:ext cx="13029008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Activity: Practice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D5B5A4-CC33-931E-3A40-4BF700F30E7F}"/>
              </a:ext>
            </a:extLst>
          </p:cNvPr>
          <p:cNvGrpSpPr/>
          <p:nvPr/>
        </p:nvGrpSpPr>
        <p:grpSpPr>
          <a:xfrm>
            <a:off x="12381308" y="1961462"/>
            <a:ext cx="3352799" cy="2974192"/>
            <a:chOff x="11049001" y="2095501"/>
            <a:chExt cx="3352799" cy="29741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210CB7-606A-924D-BA90-EA4BD07D5CA3}"/>
                </a:ext>
              </a:extLst>
            </p:cNvPr>
            <p:cNvSpPr/>
            <p:nvPr/>
          </p:nvSpPr>
          <p:spPr>
            <a:xfrm>
              <a:off x="11049001" y="2095501"/>
              <a:ext cx="2819400" cy="2974192"/>
            </a:xfrm>
            <a:prstGeom prst="rect">
              <a:avLst/>
            </a:prstGeom>
            <a:solidFill>
              <a:srgbClr val="F4991A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7DE0095-761F-910A-40A4-E9E0B98E8E4F}"/>
                </a:ext>
              </a:extLst>
            </p:cNvPr>
            <p:cNvSpPr txBox="1"/>
            <p:nvPr/>
          </p:nvSpPr>
          <p:spPr>
            <a:xfrm>
              <a:off x="11430000" y="2349974"/>
              <a:ext cx="2971800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****************</a:t>
              </a:r>
            </a:p>
            <a:p>
              <a:r>
                <a:rPr lang="en-GB" dirty="0"/>
                <a:t>*******__*******</a:t>
              </a:r>
            </a:p>
            <a:p>
              <a:r>
                <a:rPr lang="en-GB" dirty="0"/>
                <a:t>******____******</a:t>
              </a:r>
            </a:p>
            <a:p>
              <a:r>
                <a:rPr lang="en-GB" dirty="0"/>
                <a:t>*****______*****</a:t>
              </a:r>
            </a:p>
            <a:p>
              <a:r>
                <a:rPr lang="en-GB" dirty="0"/>
                <a:t>****________****</a:t>
              </a:r>
            </a:p>
            <a:p>
              <a:r>
                <a:rPr lang="en-GB" dirty="0"/>
                <a:t>***__________***</a:t>
              </a:r>
            </a:p>
            <a:p>
              <a:r>
                <a:rPr lang="en-GB" dirty="0"/>
                <a:t>**____________**</a:t>
              </a:r>
            </a:p>
            <a:p>
              <a:r>
                <a:rPr lang="en-GB" dirty="0"/>
                <a:t>*______________*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D8B376-52AC-3705-E009-A5396281F543}"/>
              </a:ext>
            </a:extLst>
          </p:cNvPr>
          <p:cNvGrpSpPr/>
          <p:nvPr/>
        </p:nvGrpSpPr>
        <p:grpSpPr>
          <a:xfrm>
            <a:off x="1038428" y="1961462"/>
            <a:ext cx="3579428" cy="2974192"/>
            <a:chOff x="2362200" y="2095501"/>
            <a:chExt cx="3579428" cy="29741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9EE114-9FCF-E234-EC9E-2DFCF9895F6E}"/>
                </a:ext>
              </a:extLst>
            </p:cNvPr>
            <p:cNvSpPr/>
            <p:nvPr/>
          </p:nvSpPr>
          <p:spPr>
            <a:xfrm>
              <a:off x="2362200" y="2095501"/>
              <a:ext cx="2895600" cy="2974192"/>
            </a:xfrm>
            <a:prstGeom prst="rect">
              <a:avLst/>
            </a:prstGeom>
            <a:solidFill>
              <a:srgbClr val="F4991A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91F9477-154D-B390-1577-50D08B63620D}"/>
                </a:ext>
              </a:extLst>
            </p:cNvPr>
            <p:cNvSpPr txBox="1"/>
            <p:nvPr/>
          </p:nvSpPr>
          <p:spPr>
            <a:xfrm>
              <a:off x="2512628" y="2349974"/>
              <a:ext cx="3429000" cy="2719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AAAAAAAAAAAAAA</a:t>
              </a:r>
            </a:p>
            <a:p>
              <a:pPr algn="l">
                <a:lnSpc>
                  <a:spcPts val="660"/>
                </a:lnSpc>
              </a:pPr>
              <a:endParaRPr lang="en-US" dirty="0"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660"/>
                </a:lnSpc>
              </a:pPr>
              <a:r>
                <a:rPr lang="en-US" dirty="0">
                  <a:latin typeface="Lato"/>
                  <a:ea typeface="Lato"/>
                  <a:cs typeface="Lato"/>
                  <a:sym typeface="Lato"/>
                </a:rPr>
                <a:t>AAAAAAAAAAAAAAA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A8A610-68F0-86CA-4AE6-538AAB5023FF}"/>
              </a:ext>
            </a:extLst>
          </p:cNvPr>
          <p:cNvGrpSpPr/>
          <p:nvPr/>
        </p:nvGrpSpPr>
        <p:grpSpPr>
          <a:xfrm>
            <a:off x="6309818" y="1961462"/>
            <a:ext cx="3695700" cy="4876799"/>
            <a:chOff x="7162800" y="2095500"/>
            <a:chExt cx="3695700" cy="48767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1479E2-E21D-CE61-E821-FAB5D9087942}"/>
                </a:ext>
              </a:extLst>
            </p:cNvPr>
            <p:cNvSpPr/>
            <p:nvPr/>
          </p:nvSpPr>
          <p:spPr>
            <a:xfrm>
              <a:off x="7162800" y="2095500"/>
              <a:ext cx="3200400" cy="4876799"/>
            </a:xfrm>
            <a:prstGeom prst="rect">
              <a:avLst/>
            </a:prstGeom>
            <a:solidFill>
              <a:srgbClr val="F4991A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261990EC-4DE4-1680-71F7-8E6D38C7602D}"/>
                </a:ext>
              </a:extLst>
            </p:cNvPr>
            <p:cNvSpPr txBox="1"/>
            <p:nvPr/>
          </p:nvSpPr>
          <p:spPr>
            <a:xfrm>
              <a:off x="7429500" y="2323223"/>
              <a:ext cx="3429000" cy="4467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en-GB" sz="2800" dirty="0"/>
                <a:t>*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*##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***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*##*##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*****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*##*##*##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*******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*##*##*##*##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********* </a:t>
              </a:r>
            </a:p>
            <a:p>
              <a:pPr>
                <a:lnSpc>
                  <a:spcPts val="3499"/>
                </a:lnSpc>
              </a:pPr>
              <a:r>
                <a:rPr lang="en-GB" sz="2800" dirty="0"/>
                <a:t>*##*##*##*##*##</a:t>
              </a:r>
              <a:endParaRPr lang="en-US" sz="2499" dirty="0"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809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4E43B-35C4-8194-6F85-41D3048E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3727B5-B182-1573-0803-0169640F3AB5}"/>
              </a:ext>
            </a:extLst>
          </p:cNvPr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E5023E-595A-AC8E-4D66-210927ABD746}"/>
              </a:ext>
            </a:extLst>
          </p:cNvPr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ED9542-EE2A-1F50-2AD2-522961E39A46}"/>
                </a:ext>
              </a:extLst>
            </p:cNvPr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9A7E690-E763-057C-B67C-16D1907DFD1B}"/>
              </a:ext>
            </a:extLst>
          </p:cNvPr>
          <p:cNvSpPr txBox="1"/>
          <p:nvPr/>
        </p:nvSpPr>
        <p:spPr>
          <a:xfrm>
            <a:off x="1028700" y="475297"/>
            <a:ext cx="13029008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Independent learning: Practice patterns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1BB518-7918-8DB0-8D31-014F0F52D982}"/>
              </a:ext>
            </a:extLst>
          </p:cNvPr>
          <p:cNvSpPr txBox="1"/>
          <p:nvPr/>
        </p:nvSpPr>
        <p:spPr>
          <a:xfrm>
            <a:off x="1044912" y="2628900"/>
            <a:ext cx="130290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https://pynative.com/print-pattern-python-examples/#h-pyramid-pattern-of-stars-in-python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https://www.wscubetech.com/resources/python/programs/pattern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A8222C75-8998-8865-068C-ED9EF92AED83}"/>
              </a:ext>
            </a:extLst>
          </p:cNvPr>
          <p:cNvSpPr txBox="1"/>
          <p:nvPr/>
        </p:nvSpPr>
        <p:spPr>
          <a:xfrm>
            <a:off x="1104900" y="5363233"/>
            <a:ext cx="13601700" cy="853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The better you get at finding rules to generate patterns, the better you get at recognizing them – useful for writing your pattern recognizer!</a:t>
            </a:r>
          </a:p>
        </p:txBody>
      </p:sp>
    </p:spTree>
    <p:extLst>
      <p:ext uri="{BB962C8B-B14F-4D97-AF65-F5344CB8AC3E}">
        <p14:creationId xmlns:p14="http://schemas.microsoft.com/office/powerpoint/2010/main" val="1789127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Debrief</a:t>
            </a:r>
          </a:p>
        </p:txBody>
      </p:sp>
      <p:sp>
        <p:nvSpPr>
          <p:cNvPr id="6" name="Freeform 6"/>
          <p:cNvSpPr/>
          <p:nvPr/>
        </p:nvSpPr>
        <p:spPr>
          <a:xfrm>
            <a:off x="1616398" y="2144253"/>
            <a:ext cx="13076618" cy="5358036"/>
          </a:xfrm>
          <a:custGeom>
            <a:avLst/>
            <a:gdLst/>
            <a:ahLst/>
            <a:cxnLst/>
            <a:rect l="l" t="t" r="r" b="b"/>
            <a:pathLst>
              <a:path w="13076618" h="5358036">
                <a:moveTo>
                  <a:pt x="0" y="0"/>
                </a:moveTo>
                <a:lnTo>
                  <a:pt x="13076618" y="0"/>
                </a:lnTo>
                <a:lnTo>
                  <a:pt x="13076618" y="5358036"/>
                </a:lnTo>
                <a:lnTo>
                  <a:pt x="0" y="5358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941715" y="2087286"/>
            <a:ext cx="11202977" cy="501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conda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python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Variables, and types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Implicit conversion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D9777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&gt;&gt; Print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Break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781550"/>
            <a:ext cx="1302900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Next: Installing necessary packages in Python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2755772"/>
            <a:ext cx="1744296" cy="1744296"/>
          </a:xfrm>
          <a:custGeom>
            <a:avLst/>
            <a:gdLst/>
            <a:ahLst/>
            <a:cxnLst/>
            <a:rect l="l" t="t" r="r" b="b"/>
            <a:pathLst>
              <a:path w="1744296" h="1744296">
                <a:moveTo>
                  <a:pt x="0" y="0"/>
                </a:moveTo>
                <a:lnTo>
                  <a:pt x="1744296" y="0"/>
                </a:lnTo>
                <a:lnTo>
                  <a:pt x="1744296" y="1744296"/>
                </a:lnTo>
                <a:lnTo>
                  <a:pt x="0" y="174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Using packages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0" y="2332513"/>
            <a:ext cx="11201400" cy="64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u="sng" dirty="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  <a:hlinkClick r:id="rId4" tooltip="https://learn.gold.ac.uk/mod/lti/view.php?id=1740418"/>
              </a:rPr>
              <a:t>https://learn.gold.ac.uk/mod/lti/view.php?id=1740418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30" y="3623197"/>
            <a:ext cx="12249671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5425" lvl="3" indent="-306356" algn="l">
              <a:lnSpc>
                <a:spcPts val="4198"/>
              </a:lnSpc>
              <a:buFont typeface="Arial"/>
              <a:buChar char="￭"/>
            </a:pPr>
            <a:r>
              <a:rPr lang="en-US" sz="29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Explore different ways of loading packages in Python</a:t>
            </a:r>
          </a:p>
          <a:p>
            <a:pPr marL="1225425" lvl="3" indent="-306356" algn="l">
              <a:lnSpc>
                <a:spcPts val="4198"/>
              </a:lnSpc>
            </a:pPr>
            <a:endParaRPr lang="en-US" sz="29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225425" lvl="3" indent="-306356" algn="l">
              <a:lnSpc>
                <a:spcPts val="4198"/>
              </a:lnSpc>
              <a:buFont typeface="Arial"/>
              <a:buChar char="￭"/>
            </a:pPr>
            <a:r>
              <a:rPr lang="en-US" sz="29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Imports only specific functions from package with/without aliases</a:t>
            </a:r>
          </a:p>
          <a:p>
            <a:pPr marL="1225425" lvl="3" indent="-306356" algn="l">
              <a:lnSpc>
                <a:spcPts val="4198"/>
              </a:lnSpc>
            </a:pPr>
            <a:endParaRPr lang="en-US" sz="29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1225425" lvl="3" indent="-306356" algn="l">
              <a:lnSpc>
                <a:spcPts val="4198"/>
              </a:lnSpc>
              <a:buFont typeface="Arial"/>
              <a:buChar char="￭"/>
            </a:pPr>
            <a:r>
              <a:rPr lang="en-US" sz="29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dot notation to refer to specific functions in a package</a:t>
            </a:r>
          </a:p>
          <a:p>
            <a:pPr marL="1225425" lvl="3" indent="-306356" algn="l">
              <a:lnSpc>
                <a:spcPts val="4198"/>
              </a:lnSpc>
            </a:pPr>
            <a:endParaRPr lang="en-US" sz="29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412738"/>
            <a:ext cx="453390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Watch VLE video to learn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4611" y="520046"/>
            <a:ext cx="1017308" cy="1017308"/>
          </a:xfrm>
          <a:custGeom>
            <a:avLst/>
            <a:gdLst/>
            <a:ahLst/>
            <a:cxnLst/>
            <a:rect l="l" t="t" r="r" b="b"/>
            <a:pathLst>
              <a:path w="1017308" h="1017308">
                <a:moveTo>
                  <a:pt x="0" y="0"/>
                </a:moveTo>
                <a:lnTo>
                  <a:pt x="1017308" y="0"/>
                </a:lnTo>
                <a:lnTo>
                  <a:pt x="1017308" y="1017308"/>
                </a:lnTo>
                <a:lnTo>
                  <a:pt x="0" y="10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8988072"/>
            <a:ext cx="18288000" cy="1298925"/>
            <a:chOff x="0" y="0"/>
            <a:chExt cx="24384000" cy="1731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1899"/>
            </a:xfrm>
            <a:custGeom>
              <a:avLst/>
              <a:gdLst/>
              <a:ahLst/>
              <a:cxnLst/>
              <a:rect l="l" t="t" r="r" b="b"/>
              <a:pathLst>
                <a:path w="24384000" h="1731899">
                  <a:moveTo>
                    <a:pt x="0" y="0"/>
                  </a:moveTo>
                  <a:lnTo>
                    <a:pt x="24384000" y="0"/>
                  </a:lnTo>
                  <a:lnTo>
                    <a:pt x="24384000" y="1731899"/>
                  </a:lnTo>
                  <a:lnTo>
                    <a:pt x="0" y="1731899"/>
                  </a:lnTo>
                  <a:close/>
                </a:path>
              </a:pathLst>
            </a:custGeom>
            <a:solidFill>
              <a:srgbClr val="196B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9153" y="3735598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Python - Installation and use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79153" y="4740803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Packages and environments</a:t>
            </a:r>
          </a:p>
        </p:txBody>
      </p:sp>
      <p:sp>
        <p:nvSpPr>
          <p:cNvPr id="7" name="Freeform 7"/>
          <p:cNvSpPr/>
          <p:nvPr/>
        </p:nvSpPr>
        <p:spPr>
          <a:xfrm>
            <a:off x="8186577" y="3626217"/>
            <a:ext cx="1744296" cy="1744296"/>
          </a:xfrm>
          <a:custGeom>
            <a:avLst/>
            <a:gdLst/>
            <a:ahLst/>
            <a:cxnLst/>
            <a:rect l="l" t="t" r="r" b="b"/>
            <a:pathLst>
              <a:path w="1744296" h="1744296">
                <a:moveTo>
                  <a:pt x="0" y="0"/>
                </a:moveTo>
                <a:lnTo>
                  <a:pt x="1744296" y="0"/>
                </a:lnTo>
                <a:lnTo>
                  <a:pt x="1744296" y="1744296"/>
                </a:lnTo>
                <a:lnTo>
                  <a:pt x="0" y="1744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475297"/>
            <a:ext cx="1302900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96BDE"/>
                </a:solidFill>
                <a:latin typeface="Lato Bold"/>
                <a:ea typeface="Lato Bold"/>
                <a:cs typeface="Lato Bold"/>
                <a:sym typeface="Lato Bold"/>
              </a:rPr>
              <a:t>Wrap 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9153" y="2734413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Intro to course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9153" y="5741988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Jupyter notebooks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0830" y="3876997"/>
            <a:ext cx="624847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D97777"/>
                </a:solidFill>
                <a:latin typeface="Lato Bold"/>
                <a:ea typeface="Lato Bold"/>
                <a:cs typeface="Lato Bold"/>
                <a:sym typeface="Lato Bold"/>
              </a:rPr>
              <a:t>Next week : Lists, control flow, functions &amp; build our first chatbot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9153" y="6670993"/>
            <a:ext cx="6864847" cy="557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9CC48C"/>
                </a:solidFill>
                <a:latin typeface="Lato Bold"/>
                <a:ea typeface="Lato Bold"/>
                <a:cs typeface="Lato Bold"/>
                <a:sym typeface="Lato Bold"/>
              </a:rPr>
              <a:t>Strings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2211</Words>
  <Application>Microsoft Macintosh PowerPoint</Application>
  <PresentationFormat>Custom</PresentationFormat>
  <Paragraphs>491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Lato</vt:lpstr>
      <vt:lpstr>Calibri</vt:lpstr>
      <vt:lpstr>Lato Bold</vt:lpstr>
      <vt:lpstr>Arimo</vt:lpstr>
      <vt:lpstr>Canva Sans Italics</vt:lpstr>
      <vt:lpstr>Lato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(upload)2025-26 Data programming lecture Week 1.pptx</dc:title>
  <cp:lastModifiedBy>Prashanth Thattai Ravikumar</cp:lastModifiedBy>
  <cp:revision>18</cp:revision>
  <dcterms:created xsi:type="dcterms:W3CDTF">2006-08-16T00:00:00Z</dcterms:created>
  <dcterms:modified xsi:type="dcterms:W3CDTF">2026-09-30T16:08:28Z</dcterms:modified>
  <dc:identifier>DAG0eNbqoMI</dc:identifier>
</cp:coreProperties>
</file>